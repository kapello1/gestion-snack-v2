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projet TFE : une application web complète de gestion d'un snack, développée en React et Spring Boot, déployée dans le cloud. Cette application couvre la gestion des commandes, du stock, de la caisse, des réservations et intègre un chatbot vocal intelligent.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snack sans système informatisé souffre de plusieurs problèmes : les commandes se perdent, le stock n'est pas suivi, les erreurs de caisse sont fréquentes, et aucune donnée n'est analysée pour prendre des décisions. Mon application résout ces problèmes avec un système centralisé accessible depuis n'importe quel navigateur.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analysé les solutions existantes. Square POS et Lightspeed sont puissants mais trop coûteux et trop complexes pour une PME. Aucun n'offre de chatbot vocal IA, de gestion du stock par triggers automatiques, ou d'API REST documentée. Notre projet se distingue sur ces trois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est en 3 couches. Le frontend React est hébergé sur Vercel avec CDN mondial. Le backend Spring Boot tourne sur Render dans un conteneur Linux. La base PostgreSQL est sur Neon.tech, serverless, hébergée en Europe pour la conformité RGPD. Les trois déploiements sont automatiques à chaque push GitHub.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Groq plutôt qu'OpenAI car la latence est 5x plus faible — essentiel pour le chatbot vocal. PostgreSQL pour les ENUMs natifs et les triggers avancés. BCrypt pour les mots de passe, sessions côté serveur — pas de JWT nécessaire pour ce périmètre.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système distingue 6 rôles : Admin, Caissier, Serveur, Cuisinier, Client et Fournisseur. Chaque rôle a une interface dédiée et un périmètre fonctionnel précis, géré par un système RBAC côté backend Spring Boot.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 LIVE — Ouvrez l'application dans le navigateur. Ayez deux onglets : un connecté Serveur/Admin, un connecté Cuisinier pour montrer WebSocket.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MONTREZ : connectez-vous en Admin → dashboard → catalogue produits → alertes stock. Soulignez que les alertes sont générées par un trigger PostgreSQL sans intervention applicative.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MONTREZ : ouvrez deux onglets. Dans l'onglet Serveur créez une commande. L'onglet Cuisinier reçoit la notification WebSocket instantanément. Changez le statut de la commande depuis la cuisine.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MONTREZ : Caissier → sélectionner commande → STRIPE → taper 4242 4242 4242 4242 → confirmer → ticket PDF généré et téléchargé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MONTREZ : espace client → activer le chatbot → parler au micro → posez 'Qu'est-ce que vous avez au menu ?'. Montrez la transcription, la réponse texte générée par Groq, puis la lecture vocale ElevenLabs.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PostgreSQL : quand un article est commandé, un trigger décrémente automatiquement le stock. Si le stock passe sous le seuil, un second trigger génère une alerte. Tout cela sans code applicatif — c'est la base de données qui garantit la cohérence. BCrypt pour les mots de passe, RBAC sur tous les endpoints, HTTPS partout.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le code est sur GitHub avec un historique de commits régulier. Render et Vercel sont connectés au repo : chaque push sur la branche main déclenche un redéploiement automatique en moins de 3 minutes. C'est une intégration continue réelle, pas simulée — exigence TFE satisfaite.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Présentez ces 3 difficultés comme des preuves de votre capacité à résoudre des problèmes réels. Le jury apprécie que vous ayez rencontré et surmonté des obstacles techniques concrets.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l'application est complète et déployée en production. Elle couvre les 6 rôles métier avec 26 fonctionnalités, une API REST documentée via Swagger, des notifications temps réel, et un chatbot vocal unique. Pour les évolutions futures : application mobile, 2FA, système de fidélité, dashboard prédictif par machine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5E"/>
        </a:solidFill>
        <a:effectLst/>
      </p:bgPr>
    </p:bg>
    <p:spTree>
      <p:nvGrpSpPr>
        <p:cNvPr id="1" name=""/>
        <p:cNvGrpSpPr/>
        <p:nvPr/>
      </p:nvGrpSpPr>
      <p:grpSpPr/>
      <p:sp>
        <p:nvSpPr>
          <p:cNvPr id="2" name="Rectangle 1"/>
          <p:cNvSpPr/>
          <p:nvPr/>
        </p:nvSpPr>
        <p:spPr>
          <a:xfrm>
            <a:off x="0" y="2560320"/>
            <a:ext cx="12188952" cy="7315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7315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725912" cy="1005840"/>
          </a:xfrm>
          <a:prstGeom prst="rect">
            <a:avLst/>
          </a:prstGeom>
          <a:noFill/>
        </p:spPr>
        <p:txBody>
          <a:bodyPr wrap="square">
            <a:spAutoFit/>
          </a:bodyPr>
          <a:lstStyle/>
          <a:p>
            <a:pPr algn="ctr"/>
            <a:r>
              <a:rPr sz="5200" b="1" i="0">
                <a:solidFill>
                  <a:srgbClr val="FFFFFF"/>
                </a:solidFill>
              </a:rPr>
              <a:t>GESTION SNACK</a:t>
            </a:r>
          </a:p>
        </p:txBody>
      </p:sp>
      <p:sp>
        <p:nvSpPr>
          <p:cNvPr id="5" name="TextBox 4"/>
          <p:cNvSpPr txBox="1"/>
          <p:nvPr/>
        </p:nvSpPr>
        <p:spPr>
          <a:xfrm>
            <a:off x="731520" y="1920240"/>
            <a:ext cx="10725912" cy="640080"/>
          </a:xfrm>
          <a:prstGeom prst="rect">
            <a:avLst/>
          </a:prstGeom>
          <a:noFill/>
        </p:spPr>
        <p:txBody>
          <a:bodyPr wrap="square">
            <a:spAutoFit/>
          </a:bodyPr>
          <a:lstStyle/>
          <a:p>
            <a:pPr algn="ctr"/>
            <a:r>
              <a:rPr sz="1800" b="0" i="1">
                <a:solidFill>
                  <a:srgbClr val="007A8A"/>
                </a:solidFill>
              </a:rPr>
              <a:t>Application Web de Gestion d'Établissement de Restauration</a:t>
            </a:r>
          </a:p>
        </p:txBody>
      </p:sp>
      <p:sp>
        <p:nvSpPr>
          <p:cNvPr id="6" name="TextBox 5"/>
          <p:cNvSpPr txBox="1"/>
          <p:nvPr/>
        </p:nvSpPr>
        <p:spPr>
          <a:xfrm>
            <a:off x="731520" y="3017520"/>
            <a:ext cx="10725912" cy="457200"/>
          </a:xfrm>
          <a:prstGeom prst="rect">
            <a:avLst/>
          </a:prstGeom>
          <a:noFill/>
        </p:spPr>
        <p:txBody>
          <a:bodyPr wrap="square">
            <a:spAutoFit/>
          </a:bodyPr>
          <a:lstStyle/>
          <a:p>
            <a:pPr algn="ctr"/>
            <a:r>
              <a:rPr sz="2000" b="1" i="0">
                <a:solidFill>
                  <a:srgbClr val="FFFFFF"/>
                </a:solidFill>
              </a:rPr>
              <a:t>Tiegni Gamo Bernard-Joël</a:t>
            </a:r>
          </a:p>
        </p:txBody>
      </p:sp>
      <p:sp>
        <p:nvSpPr>
          <p:cNvPr id="7" name="TextBox 6"/>
          <p:cNvSpPr txBox="1"/>
          <p:nvPr/>
        </p:nvSpPr>
        <p:spPr>
          <a:xfrm>
            <a:off x="731520" y="3566160"/>
            <a:ext cx="10725912" cy="457200"/>
          </a:xfrm>
          <a:prstGeom prst="rect">
            <a:avLst/>
          </a:prstGeom>
          <a:noFill/>
        </p:spPr>
        <p:txBody>
          <a:bodyPr wrap="square">
            <a:spAutoFit/>
          </a:bodyPr>
          <a:lstStyle/>
          <a:p>
            <a:pPr algn="ctr"/>
            <a:r>
              <a:rPr sz="1400" b="0" i="0">
                <a:solidFill>
                  <a:srgbClr val="F2F4F7"/>
                </a:solidFill>
              </a:rPr>
              <a:t>Institut Libre Marie Haps  •  Section Informatique  •  TFE 2025–2026</a:t>
            </a:r>
          </a:p>
        </p:txBody>
      </p:sp>
      <p:sp>
        <p:nvSpPr>
          <p:cNvPr id="8" name="Rectangle 7"/>
          <p:cNvSpPr/>
          <p:nvPr/>
        </p:nvSpPr>
        <p:spPr>
          <a:xfrm>
            <a:off x="164592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4597400"/>
            <a:ext cx="2011680" cy="347472"/>
          </a:xfrm>
          <a:prstGeom prst="rect">
            <a:avLst/>
          </a:prstGeom>
          <a:noFill/>
        </p:spPr>
        <p:txBody>
          <a:bodyPr wrap="square">
            <a:spAutoFit/>
          </a:bodyPr>
          <a:lstStyle/>
          <a:p>
            <a:pPr algn="ctr"/>
            <a:r>
              <a:rPr sz="1300" b="1" i="0">
                <a:solidFill>
                  <a:srgbClr val="FFFFFF"/>
                </a:solidFill>
              </a:rPr>
              <a:t>React 19</a:t>
            </a:r>
          </a:p>
        </p:txBody>
      </p:sp>
      <p:sp>
        <p:nvSpPr>
          <p:cNvPr id="10" name="Rectangle 9"/>
          <p:cNvSpPr/>
          <p:nvPr/>
        </p:nvSpPr>
        <p:spPr>
          <a:xfrm>
            <a:off x="329184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4597400"/>
            <a:ext cx="2011680" cy="347472"/>
          </a:xfrm>
          <a:prstGeom prst="rect">
            <a:avLst/>
          </a:prstGeom>
          <a:noFill/>
        </p:spPr>
        <p:txBody>
          <a:bodyPr wrap="square">
            <a:spAutoFit/>
          </a:bodyPr>
          <a:lstStyle/>
          <a:p>
            <a:pPr algn="ctr"/>
            <a:r>
              <a:rPr sz="1300" b="1" i="0">
                <a:solidFill>
                  <a:srgbClr val="FFFFFF"/>
                </a:solidFill>
              </a:rPr>
              <a:t>Spring Boot 3</a:t>
            </a:r>
          </a:p>
        </p:txBody>
      </p:sp>
      <p:sp>
        <p:nvSpPr>
          <p:cNvPr id="12" name="Rectangle 11"/>
          <p:cNvSpPr/>
          <p:nvPr/>
        </p:nvSpPr>
        <p:spPr>
          <a:xfrm>
            <a:off x="521208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4597400"/>
            <a:ext cx="2011680" cy="347472"/>
          </a:xfrm>
          <a:prstGeom prst="rect">
            <a:avLst/>
          </a:prstGeom>
          <a:noFill/>
        </p:spPr>
        <p:txBody>
          <a:bodyPr wrap="square">
            <a:spAutoFit/>
          </a:bodyPr>
          <a:lstStyle/>
          <a:p>
            <a:pPr algn="ctr"/>
            <a:r>
              <a:rPr sz="1300" b="1" i="0">
                <a:solidFill>
                  <a:srgbClr val="FFFFFF"/>
                </a:solidFill>
              </a:rPr>
              <a:t>PostgreSQL 16</a:t>
            </a:r>
          </a:p>
        </p:txBody>
      </p:sp>
      <p:sp>
        <p:nvSpPr>
          <p:cNvPr id="14" name="Rectangle 13"/>
          <p:cNvSpPr/>
          <p:nvPr/>
        </p:nvSpPr>
        <p:spPr>
          <a:xfrm>
            <a:off x="694944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4597400"/>
            <a:ext cx="2011680" cy="347472"/>
          </a:xfrm>
          <a:prstGeom prst="rect">
            <a:avLst/>
          </a:prstGeom>
          <a:noFill/>
        </p:spPr>
        <p:txBody>
          <a:bodyPr wrap="square">
            <a:spAutoFit/>
          </a:bodyPr>
          <a:lstStyle/>
          <a:p>
            <a:pPr algn="ctr"/>
            <a:r>
              <a:rPr sz="1300" b="1" i="0">
                <a:solidFill>
                  <a:srgbClr val="FFFFFF"/>
                </a:solidFill>
              </a:rPr>
              <a:t>Groq AI</a:t>
            </a:r>
          </a:p>
        </p:txBody>
      </p:sp>
      <p:sp>
        <p:nvSpPr>
          <p:cNvPr id="16" name="Rectangle 15"/>
          <p:cNvSpPr/>
          <p:nvPr/>
        </p:nvSpPr>
        <p:spPr>
          <a:xfrm>
            <a:off x="859536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4597400"/>
            <a:ext cx="2011680" cy="347472"/>
          </a:xfrm>
          <a:prstGeom prst="rect">
            <a:avLst/>
          </a:prstGeom>
          <a:noFill/>
        </p:spPr>
        <p:txBody>
          <a:bodyPr wrap="square">
            <a:spAutoFit/>
          </a:bodyPr>
          <a:lstStyle/>
          <a:p>
            <a:pPr algn="ctr"/>
            <a:r>
              <a:rPr sz="1300" b="1" i="0">
                <a:solidFill>
                  <a:srgbClr val="FFFFFF"/>
                </a:solidFill>
              </a:rPr>
              <a:t>ElevenLabs</a:t>
            </a:r>
          </a:p>
        </p:txBody>
      </p:sp>
      <p:sp>
        <p:nvSpPr>
          <p:cNvPr id="18" name="Rectangle 17"/>
          <p:cNvSpPr/>
          <p:nvPr/>
        </p:nvSpPr>
        <p:spPr>
          <a:xfrm>
            <a:off x="10149840" y="4572000"/>
            <a:ext cx="2011680" cy="34747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0" y="4597400"/>
            <a:ext cx="2011680" cy="347472"/>
          </a:xfrm>
          <a:prstGeom prst="rect">
            <a:avLst/>
          </a:prstGeom>
          <a:noFill/>
        </p:spPr>
        <p:txBody>
          <a:bodyPr wrap="square">
            <a:spAutoFit/>
          </a:bodyPr>
          <a:lstStyle/>
          <a:p>
            <a:pPr algn="ctr"/>
            <a:r>
              <a:rPr sz="1300" b="1" i="0">
                <a:solidFill>
                  <a:srgbClr val="FFFFFF"/>
                </a:solidFill>
              </a:rPr>
              <a:t>Stripe</a:t>
            </a:r>
          </a:p>
        </p:txBody>
      </p:sp>
      <p:sp>
        <p:nvSpPr>
          <p:cNvPr id="20" name="TextBox 19"/>
          <p:cNvSpPr txBox="1"/>
          <p:nvPr/>
        </p:nvSpPr>
        <p:spPr>
          <a:xfrm>
            <a:off x="731520" y="6126480"/>
            <a:ext cx="10725912" cy="365760"/>
          </a:xfrm>
          <a:prstGeom prst="rect">
            <a:avLst/>
          </a:prstGeom>
          <a:noFill/>
        </p:spPr>
        <p:txBody>
          <a:bodyPr wrap="square">
            <a:spAutoFit/>
          </a:bodyPr>
          <a:lstStyle/>
          <a:p>
            <a:pPr algn="ctr"/>
            <a:r>
              <a:rPr sz="1300" b="0" i="0">
                <a:solidFill>
                  <a:srgbClr val="888888"/>
                </a:solidFill>
              </a:rPr>
              <a:t>17 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Contexte &amp; Problématique</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Pourquoi cette application ?</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2 / 15</a:t>
            </a:r>
          </a:p>
        </p:txBody>
      </p:sp>
      <p:sp>
        <p:nvSpPr>
          <p:cNvPr id="7" name="TextBox 6"/>
          <p:cNvSpPr txBox="1"/>
          <p:nvPr/>
        </p:nvSpPr>
        <p:spPr>
          <a:xfrm>
            <a:off x="457200" y="1645920"/>
            <a:ext cx="5669280" cy="4572000"/>
          </a:xfrm>
          <a:prstGeom prst="rect">
            <a:avLst/>
          </a:prstGeom>
          <a:noFill/>
        </p:spPr>
        <p:txBody>
          <a:bodyPr wrap="square">
            <a:spAutoFit/>
          </a:bodyPr>
          <a:lstStyle/>
          <a:p>
            <a:r>
              <a:rPr sz="1700" b="1">
                <a:solidFill>
                  <a:srgbClr val="007A8A"/>
                </a:solidFill>
              </a:rPr>
              <a:t>Problèmes sans système informatisé</a:t>
            </a:r>
          </a:p>
          <a:p>
            <a:pPr>
              <a:spcBef>
                <a:spcPts val="400"/>
              </a:spcBef>
            </a:pPr>
            <a:r>
              <a:rPr sz="1500">
                <a:solidFill>
                  <a:srgbClr val="444444"/>
                </a:solidFill>
              </a:rPr>
              <a:t>▸  Commandes perdues ou mal transmises entre salle et cuisine</a:t>
            </a:r>
          </a:p>
          <a:p>
            <a:pPr>
              <a:spcBef>
                <a:spcPts val="400"/>
              </a:spcBef>
            </a:pPr>
            <a:r>
              <a:rPr sz="1500">
                <a:solidFill>
                  <a:srgbClr val="444444"/>
                </a:solidFill>
              </a:rPr>
              <a:t>▸  Aucun suivi du stock en temps réel → ruptures fréquentes</a:t>
            </a:r>
          </a:p>
          <a:p>
            <a:pPr>
              <a:spcBef>
                <a:spcPts val="400"/>
              </a:spcBef>
            </a:pPr>
            <a:r>
              <a:rPr sz="1500">
                <a:solidFill>
                  <a:srgbClr val="444444"/>
                </a:solidFill>
              </a:rPr>
              <a:t>▸  Gestion de caisse manuelle → erreurs de calcul</a:t>
            </a:r>
          </a:p>
          <a:p>
            <a:pPr>
              <a:spcBef>
                <a:spcPts val="400"/>
              </a:spcBef>
            </a:pPr>
            <a:r>
              <a:rPr sz="1500">
                <a:solidFill>
                  <a:srgbClr val="444444"/>
                </a:solidFill>
              </a:rPr>
              <a:t>▸  Aucune donnée analysée pour piloter l'activité</a:t>
            </a:r>
          </a:p>
          <a:p>
            <a:pPr>
              <a:spcBef>
                <a:spcPts val="400"/>
              </a:spcBef>
            </a:pPr>
            <a:r>
              <a:rPr sz="1500">
                <a:solidFill>
                  <a:srgbClr val="444444"/>
                </a:solidFill>
              </a:rPr>
              <a:t>▸  Réservations gérées par téléphone ou carnet papier</a:t>
            </a:r>
          </a:p>
          <a:p>
            <a:pPr>
              <a:spcBef>
                <a:spcPts val="400"/>
              </a:spcBef>
            </a:pPr>
            <a:r>
              <a:rPr sz="1500">
                <a:solidFill>
                  <a:srgbClr val="444444"/>
                </a:solidFill>
              </a:rPr>
              <a:t>▸  Communication salle ↔ cuisine lente et source d'erreurs</a:t>
            </a:r>
          </a:p>
        </p:txBody>
      </p:sp>
      <p:sp>
        <p:nvSpPr>
          <p:cNvPr id="8" name="Rectangle 7"/>
          <p:cNvSpPr/>
          <p:nvPr/>
        </p:nvSpPr>
        <p:spPr>
          <a:xfrm>
            <a:off x="6400800" y="1645920"/>
            <a:ext cx="5303520" cy="45720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37360"/>
            <a:ext cx="4937760" cy="4389120"/>
          </a:xfrm>
          <a:prstGeom prst="rect">
            <a:avLst/>
          </a:prstGeom>
          <a:noFill/>
        </p:spPr>
        <p:txBody>
          <a:bodyPr wrap="square">
            <a:spAutoFit/>
          </a:bodyPr>
          <a:lstStyle/>
          <a:p>
            <a:r>
              <a:rPr sz="1700" b="1">
                <a:solidFill>
                  <a:srgbClr val="007A8A"/>
                </a:solidFill>
              </a:rPr>
              <a:t>Notre solution</a:t>
            </a:r>
          </a:p>
          <a:p>
            <a:pPr>
              <a:spcBef>
                <a:spcPts val="400"/>
              </a:spcBef>
            </a:pPr>
            <a:r>
              <a:rPr sz="1500">
                <a:solidFill>
                  <a:srgbClr val="FFFFFF"/>
                </a:solidFill>
              </a:rPr>
              <a:t>▸  Commandes en temps réel via WebSocket</a:t>
            </a:r>
          </a:p>
          <a:p>
            <a:pPr>
              <a:spcBef>
                <a:spcPts val="400"/>
              </a:spcBef>
            </a:pPr>
            <a:r>
              <a:rPr sz="1500">
                <a:solidFill>
                  <a:srgbClr val="FFFFFF"/>
                </a:solidFill>
              </a:rPr>
              <a:t>▸  Stock auto-décrémenté par trigger PostgreSQL</a:t>
            </a:r>
          </a:p>
          <a:p>
            <a:pPr>
              <a:spcBef>
                <a:spcPts val="400"/>
              </a:spcBef>
            </a:pPr>
            <a:r>
              <a:rPr sz="1500">
                <a:solidFill>
                  <a:srgbClr val="FFFFFF"/>
                </a:solidFill>
              </a:rPr>
              <a:t>▸  Caisse multi-méthodes (CASH / CARD / Stripe)</a:t>
            </a:r>
          </a:p>
          <a:p>
            <a:pPr>
              <a:spcBef>
                <a:spcPts val="400"/>
              </a:spcBef>
            </a:pPr>
            <a:r>
              <a:rPr sz="1500">
                <a:solidFill>
                  <a:srgbClr val="FFFFFF"/>
                </a:solidFill>
              </a:rPr>
              <a:t>▸  Dashboard analytique avec KPIs</a:t>
            </a:r>
          </a:p>
          <a:p>
            <a:pPr>
              <a:spcBef>
                <a:spcPts val="400"/>
              </a:spcBef>
            </a:pPr>
            <a:r>
              <a:rPr sz="1500">
                <a:solidFill>
                  <a:srgbClr val="FFFFFF"/>
                </a:solidFill>
              </a:rPr>
              <a:t>▸  Réservations en ligne par les clients</a:t>
            </a:r>
          </a:p>
          <a:p>
            <a:pPr>
              <a:spcBef>
                <a:spcPts val="400"/>
              </a:spcBef>
            </a:pPr>
            <a:r>
              <a:rPr sz="1500">
                <a:solidFill>
                  <a:srgbClr val="FFFFFF"/>
                </a:solidFill>
              </a:rPr>
              <a:t>▸  Chatbot vocal IA pour les clients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Étude de l'Existant</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Analyse comparative des solutions du marché</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3 / 15</a:t>
            </a:r>
          </a:p>
        </p:txBody>
      </p:sp>
      <p:sp>
        <p:nvSpPr>
          <p:cNvPr id="7" name="Rectangle 6"/>
          <p:cNvSpPr/>
          <p:nvPr/>
        </p:nvSpPr>
        <p:spPr>
          <a:xfrm>
            <a:off x="274320" y="1554480"/>
            <a:ext cx="2743200" cy="41148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72768"/>
            <a:ext cx="2743200" cy="365760"/>
          </a:xfrm>
          <a:prstGeom prst="rect">
            <a:avLst/>
          </a:prstGeom>
          <a:noFill/>
        </p:spPr>
        <p:txBody>
          <a:bodyPr wrap="square">
            <a:spAutoFit/>
          </a:bodyPr>
          <a:lstStyle/>
          <a:p>
            <a:pPr algn="ctr"/>
            <a:r>
              <a:rPr sz="1400" b="1" i="0">
                <a:solidFill>
                  <a:srgbClr val="FFFFFF"/>
                </a:solidFill>
              </a:rPr>
              <a:t>Square POS</a:t>
            </a:r>
          </a:p>
        </p:txBody>
      </p:sp>
      <p:sp>
        <p:nvSpPr>
          <p:cNvPr id="9" name="Rectangle 8"/>
          <p:cNvSpPr/>
          <p:nvPr/>
        </p:nvSpPr>
        <p:spPr>
          <a:xfrm>
            <a:off x="274320" y="1965960"/>
            <a:ext cx="2743200" cy="4480560"/>
          </a:xfrm>
          <a:prstGeom prst="rect">
            <a:avLst/>
          </a:prstGeom>
          <a:solidFill>
            <a:srgbClr val="F2F4F7"/>
          </a:solidFill>
          <a:ln w="190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011680"/>
            <a:ext cx="2560320" cy="4297680"/>
          </a:xfrm>
          <a:prstGeom prst="rect">
            <a:avLst/>
          </a:prstGeom>
          <a:noFill/>
        </p:spPr>
        <p:txBody>
          <a:bodyPr wrap="square">
            <a:spAutoFit/>
          </a:bodyPr>
          <a:lstStyle/>
          <a:p>
            <a:pPr>
              <a:spcBef>
                <a:spcPts val="400"/>
              </a:spcBef>
            </a:pPr>
            <a:r>
              <a:rPr sz="1150">
                <a:solidFill>
                  <a:srgbClr val="444444"/>
                </a:solidFill>
              </a:rPr>
              <a:t>▸  ✓  Paiements intégrés</a:t>
            </a:r>
          </a:p>
          <a:p>
            <a:pPr>
              <a:spcBef>
                <a:spcPts val="400"/>
              </a:spcBef>
            </a:pPr>
            <a:r>
              <a:rPr sz="1150">
                <a:solidFill>
                  <a:srgbClr val="444444"/>
                </a:solidFill>
              </a:rPr>
              <a:t>▸  ✓  Interface intuitive</a:t>
            </a:r>
          </a:p>
          <a:p>
            <a:pPr>
              <a:spcBef>
                <a:spcPts val="400"/>
              </a:spcBef>
            </a:pPr>
            <a:r>
              <a:rPr sz="1150">
                <a:solidFill>
                  <a:srgbClr val="444444"/>
                </a:solidFill>
              </a:rPr>
              <a:t>▸   </a:t>
            </a:r>
          </a:p>
          <a:p>
            <a:pPr>
              <a:spcBef>
                <a:spcPts val="400"/>
              </a:spcBef>
            </a:pPr>
            <a:r>
              <a:rPr sz="1150">
                <a:solidFill>
                  <a:srgbClr val="444444"/>
                </a:solidFill>
              </a:rPr>
              <a:t>▸  ✗  Pas de chatbot IA</a:t>
            </a:r>
          </a:p>
          <a:p>
            <a:pPr>
              <a:spcBef>
                <a:spcPts val="400"/>
              </a:spcBef>
            </a:pPr>
            <a:r>
              <a:rPr sz="1150">
                <a:solidFill>
                  <a:srgbClr val="444444"/>
                </a:solidFill>
              </a:rPr>
              <a:t>▸  ✗  Pas de gestion stock avancée</a:t>
            </a:r>
          </a:p>
          <a:p>
            <a:pPr>
              <a:spcBef>
                <a:spcPts val="400"/>
              </a:spcBef>
            </a:pPr>
            <a:r>
              <a:rPr sz="1150">
                <a:solidFill>
                  <a:srgbClr val="444444"/>
                </a:solidFill>
              </a:rPr>
              <a:t>▸  ✗  Coût élevé</a:t>
            </a:r>
          </a:p>
        </p:txBody>
      </p:sp>
      <p:sp>
        <p:nvSpPr>
          <p:cNvPr id="11" name="Rectangle 10"/>
          <p:cNvSpPr/>
          <p:nvPr/>
        </p:nvSpPr>
        <p:spPr>
          <a:xfrm>
            <a:off x="3200400" y="1554480"/>
            <a:ext cx="274320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572768"/>
            <a:ext cx="2743200" cy="365760"/>
          </a:xfrm>
          <a:prstGeom prst="rect">
            <a:avLst/>
          </a:prstGeom>
          <a:noFill/>
        </p:spPr>
        <p:txBody>
          <a:bodyPr wrap="square">
            <a:spAutoFit/>
          </a:bodyPr>
          <a:lstStyle/>
          <a:p>
            <a:pPr algn="ctr"/>
            <a:r>
              <a:rPr sz="1400" b="1" i="0">
                <a:solidFill>
                  <a:srgbClr val="FFFFFF"/>
                </a:solidFill>
              </a:rPr>
              <a:t>Lightspeed</a:t>
            </a:r>
          </a:p>
        </p:txBody>
      </p:sp>
      <p:sp>
        <p:nvSpPr>
          <p:cNvPr id="13" name="Rectangle 12"/>
          <p:cNvSpPr/>
          <p:nvPr/>
        </p:nvSpPr>
        <p:spPr>
          <a:xfrm>
            <a:off x="3200400" y="1965960"/>
            <a:ext cx="2743200" cy="4480560"/>
          </a:xfrm>
          <a:prstGeom prst="rect">
            <a:avLst/>
          </a:prstGeom>
          <a:solidFill>
            <a:srgbClr val="F2F4F7"/>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2011680"/>
            <a:ext cx="2560320" cy="4297680"/>
          </a:xfrm>
          <a:prstGeom prst="rect">
            <a:avLst/>
          </a:prstGeom>
          <a:noFill/>
        </p:spPr>
        <p:txBody>
          <a:bodyPr wrap="square">
            <a:spAutoFit/>
          </a:bodyPr>
          <a:lstStyle/>
          <a:p>
            <a:pPr>
              <a:spcBef>
                <a:spcPts val="400"/>
              </a:spcBef>
            </a:pPr>
            <a:r>
              <a:rPr sz="1150">
                <a:solidFill>
                  <a:srgbClr val="444444"/>
                </a:solidFill>
              </a:rPr>
              <a:t>▸  ✓  Gestion complète</a:t>
            </a:r>
          </a:p>
          <a:p>
            <a:pPr>
              <a:spcBef>
                <a:spcPts val="400"/>
              </a:spcBef>
            </a:pPr>
            <a:r>
              <a:rPr sz="1150">
                <a:solidFill>
                  <a:srgbClr val="444444"/>
                </a:solidFill>
              </a:rPr>
              <a:t>▸  ✓  Multi-sites</a:t>
            </a:r>
          </a:p>
          <a:p>
            <a:pPr>
              <a:spcBef>
                <a:spcPts val="400"/>
              </a:spcBef>
            </a:pPr>
            <a:r>
              <a:rPr sz="1150">
                <a:solidFill>
                  <a:srgbClr val="444444"/>
                </a:solidFill>
              </a:rPr>
              <a:t>▸   </a:t>
            </a:r>
          </a:p>
          <a:p>
            <a:pPr>
              <a:spcBef>
                <a:spcPts val="400"/>
              </a:spcBef>
            </a:pPr>
            <a:r>
              <a:rPr sz="1150">
                <a:solidFill>
                  <a:srgbClr val="444444"/>
                </a:solidFill>
              </a:rPr>
              <a:t>▸  ✗  Trop complexe pour PME</a:t>
            </a:r>
          </a:p>
          <a:p>
            <a:pPr>
              <a:spcBef>
                <a:spcPts val="400"/>
              </a:spcBef>
            </a:pPr>
            <a:r>
              <a:rPr sz="1150">
                <a:solidFill>
                  <a:srgbClr val="444444"/>
                </a:solidFill>
              </a:rPr>
              <a:t>▸  ✗  Inaccessible financièrement</a:t>
            </a:r>
          </a:p>
          <a:p>
            <a:pPr>
              <a:spcBef>
                <a:spcPts val="400"/>
              </a:spcBef>
            </a:pPr>
            <a:r>
              <a:rPr sz="1150">
                <a:solidFill>
                  <a:srgbClr val="444444"/>
                </a:solidFill>
              </a:rPr>
              <a:t>▸  ✗  Pas d'IA</a:t>
            </a:r>
          </a:p>
        </p:txBody>
      </p:sp>
      <p:sp>
        <p:nvSpPr>
          <p:cNvPr id="15" name="Rectangle 14"/>
          <p:cNvSpPr/>
          <p:nvPr/>
        </p:nvSpPr>
        <p:spPr>
          <a:xfrm>
            <a:off x="6126480" y="1554480"/>
            <a:ext cx="2743200" cy="41148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1572768"/>
            <a:ext cx="2743200" cy="365760"/>
          </a:xfrm>
          <a:prstGeom prst="rect">
            <a:avLst/>
          </a:prstGeom>
          <a:noFill/>
        </p:spPr>
        <p:txBody>
          <a:bodyPr wrap="square">
            <a:spAutoFit/>
          </a:bodyPr>
          <a:lstStyle/>
          <a:p>
            <a:pPr algn="ctr"/>
            <a:r>
              <a:rPr sz="1400" b="1" i="0">
                <a:solidFill>
                  <a:srgbClr val="FFFFFF"/>
                </a:solidFill>
              </a:rPr>
              <a:t>Tiller</a:t>
            </a:r>
          </a:p>
        </p:txBody>
      </p:sp>
      <p:sp>
        <p:nvSpPr>
          <p:cNvPr id="17" name="Rectangle 16"/>
          <p:cNvSpPr/>
          <p:nvPr/>
        </p:nvSpPr>
        <p:spPr>
          <a:xfrm>
            <a:off x="6126480" y="1965960"/>
            <a:ext cx="2743200" cy="4480560"/>
          </a:xfrm>
          <a:prstGeom prst="rect">
            <a:avLst/>
          </a:prstGeom>
          <a:solidFill>
            <a:srgbClr val="F2F4F7"/>
          </a:solidFill>
          <a:ln w="19050">
            <a:solidFill>
              <a:srgbClr val="1A2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011680"/>
            <a:ext cx="2560320" cy="4297680"/>
          </a:xfrm>
          <a:prstGeom prst="rect">
            <a:avLst/>
          </a:prstGeom>
          <a:noFill/>
        </p:spPr>
        <p:txBody>
          <a:bodyPr wrap="square">
            <a:spAutoFit/>
          </a:bodyPr>
          <a:lstStyle/>
          <a:p>
            <a:pPr>
              <a:spcBef>
                <a:spcPts val="400"/>
              </a:spcBef>
            </a:pPr>
            <a:r>
              <a:rPr sz="1150">
                <a:solidFill>
                  <a:srgbClr val="444444"/>
                </a:solidFill>
              </a:rPr>
              <a:t>▸  ✓  Interface tactile</a:t>
            </a:r>
          </a:p>
          <a:p>
            <a:pPr>
              <a:spcBef>
                <a:spcPts val="400"/>
              </a:spcBef>
            </a:pPr>
            <a:r>
              <a:rPr sz="1150">
                <a:solidFill>
                  <a:srgbClr val="444444"/>
                </a:solidFill>
              </a:rPr>
              <a:t>▸  ✓  Rapports</a:t>
            </a:r>
          </a:p>
          <a:p>
            <a:pPr>
              <a:spcBef>
                <a:spcPts val="400"/>
              </a:spcBef>
            </a:pPr>
            <a:r>
              <a:rPr sz="1150">
                <a:solidFill>
                  <a:srgbClr val="444444"/>
                </a:solidFill>
              </a:rPr>
              <a:t>▸   </a:t>
            </a:r>
          </a:p>
          <a:p>
            <a:pPr>
              <a:spcBef>
                <a:spcPts val="400"/>
              </a:spcBef>
            </a:pPr>
            <a:r>
              <a:rPr sz="1150">
                <a:solidFill>
                  <a:srgbClr val="444444"/>
                </a:solidFill>
              </a:rPr>
              <a:t>▸  ✗  Pas de rôles granulaires</a:t>
            </a:r>
          </a:p>
          <a:p>
            <a:pPr>
              <a:spcBef>
                <a:spcPts val="400"/>
              </a:spcBef>
            </a:pPr>
            <a:r>
              <a:rPr sz="1150">
                <a:solidFill>
                  <a:srgbClr val="444444"/>
                </a:solidFill>
              </a:rPr>
              <a:t>▸  ✗  Pas d'API publique</a:t>
            </a:r>
          </a:p>
          <a:p>
            <a:pPr>
              <a:spcBef>
                <a:spcPts val="400"/>
              </a:spcBef>
            </a:pPr>
            <a:r>
              <a:rPr sz="1150">
                <a:solidFill>
                  <a:srgbClr val="444444"/>
                </a:solidFill>
              </a:rPr>
              <a:t>▸  ✗  Pas de chatbot</a:t>
            </a:r>
          </a:p>
        </p:txBody>
      </p:sp>
      <p:sp>
        <p:nvSpPr>
          <p:cNvPr id="19" name="Rectangle 18"/>
          <p:cNvSpPr/>
          <p:nvPr/>
        </p:nvSpPr>
        <p:spPr>
          <a:xfrm>
            <a:off x="9052560" y="1554480"/>
            <a:ext cx="274320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0" y="1572768"/>
            <a:ext cx="2743200" cy="365760"/>
          </a:xfrm>
          <a:prstGeom prst="rect">
            <a:avLst/>
          </a:prstGeom>
          <a:noFill/>
        </p:spPr>
        <p:txBody>
          <a:bodyPr wrap="square">
            <a:spAutoFit/>
          </a:bodyPr>
          <a:lstStyle/>
          <a:p>
            <a:pPr algn="ctr"/>
            <a:r>
              <a:rPr sz="1400" b="1" i="0">
                <a:solidFill>
                  <a:srgbClr val="FFFFFF"/>
                </a:solidFill>
              </a:rPr>
              <a:t>Notre projet</a:t>
            </a:r>
          </a:p>
        </p:txBody>
      </p:sp>
      <p:sp>
        <p:nvSpPr>
          <p:cNvPr id="21" name="Rectangle 20"/>
          <p:cNvSpPr/>
          <p:nvPr/>
        </p:nvSpPr>
        <p:spPr>
          <a:xfrm>
            <a:off x="9052560" y="1965960"/>
            <a:ext cx="2743200" cy="4480560"/>
          </a:xfrm>
          <a:prstGeom prst="rect">
            <a:avLst/>
          </a:prstGeom>
          <a:solidFill>
            <a:srgbClr val="F2F4F7"/>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2011680"/>
            <a:ext cx="2560320" cy="4297680"/>
          </a:xfrm>
          <a:prstGeom prst="rect">
            <a:avLst/>
          </a:prstGeom>
          <a:noFill/>
        </p:spPr>
        <p:txBody>
          <a:bodyPr wrap="square">
            <a:spAutoFit/>
          </a:bodyPr>
          <a:lstStyle/>
          <a:p>
            <a:pPr>
              <a:spcBef>
                <a:spcPts val="400"/>
              </a:spcBef>
            </a:pPr>
            <a:r>
              <a:rPr sz="1150">
                <a:solidFill>
                  <a:srgbClr val="444444"/>
                </a:solidFill>
              </a:rPr>
              <a:t>▸  ✓  Chatbot vocal IA (Groq + ElevenLabs)</a:t>
            </a:r>
          </a:p>
          <a:p>
            <a:pPr>
              <a:spcBef>
                <a:spcPts val="400"/>
              </a:spcBef>
            </a:pPr>
            <a:r>
              <a:rPr sz="1150">
                <a:solidFill>
                  <a:srgbClr val="444444"/>
                </a:solidFill>
              </a:rPr>
              <a:t>▸  ✓  Triggers stock automatiques</a:t>
            </a:r>
          </a:p>
          <a:p>
            <a:pPr>
              <a:spcBef>
                <a:spcPts val="400"/>
              </a:spcBef>
            </a:pPr>
            <a:r>
              <a:rPr sz="1150">
                <a:solidFill>
                  <a:srgbClr val="444444"/>
                </a:solidFill>
              </a:rPr>
              <a:t>▸  ✓  API REST Swagger</a:t>
            </a:r>
          </a:p>
          <a:p>
            <a:pPr>
              <a:spcBef>
                <a:spcPts val="400"/>
              </a:spcBef>
            </a:pPr>
            <a:r>
              <a:rPr sz="1150">
                <a:solidFill>
                  <a:srgbClr val="444444"/>
                </a:solidFill>
              </a:rPr>
              <a:t>▸  ✓  6 rôles granulaires</a:t>
            </a:r>
          </a:p>
          <a:p>
            <a:pPr>
              <a:spcBef>
                <a:spcPts val="400"/>
              </a:spcBef>
            </a:pPr>
            <a:r>
              <a:rPr sz="1150">
                <a:solidFill>
                  <a:srgbClr val="444444"/>
                </a:solidFill>
              </a:rPr>
              <a:t>▸  ✓  Open-source friendly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Architecture Technique</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Architecture N-tier déployée dans le cloud</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4 / 15</a:t>
            </a:r>
          </a:p>
        </p:txBody>
      </p:sp>
      <p:sp>
        <p:nvSpPr>
          <p:cNvPr id="7" name="Rectangle 6"/>
          <p:cNvSpPr/>
          <p:nvPr/>
        </p:nvSpPr>
        <p:spPr>
          <a:xfrm>
            <a:off x="365760" y="1645920"/>
            <a:ext cx="3474720" cy="41148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37360"/>
            <a:ext cx="3291840" cy="502920"/>
          </a:xfrm>
          <a:prstGeom prst="rect">
            <a:avLst/>
          </a:prstGeom>
          <a:noFill/>
        </p:spPr>
        <p:txBody>
          <a:bodyPr wrap="square">
            <a:spAutoFit/>
          </a:bodyPr>
          <a:lstStyle/>
          <a:p>
            <a:pPr algn="ctr"/>
            <a:r>
              <a:rPr sz="1200" b="1" i="0">
                <a:solidFill>
                  <a:srgbClr val="FFFFFF"/>
                </a:solidFill>
              </a:rPr>
              <a:t>COUCHE PRÉSENTATION</a:t>
            </a:r>
          </a:p>
        </p:txBody>
      </p:sp>
      <p:sp>
        <p:nvSpPr>
          <p:cNvPr id="9" name="TextBox 8"/>
          <p:cNvSpPr txBox="1"/>
          <p:nvPr/>
        </p:nvSpPr>
        <p:spPr>
          <a:xfrm>
            <a:off x="502920" y="2331720"/>
            <a:ext cx="3200400" cy="731520"/>
          </a:xfrm>
          <a:prstGeom prst="rect">
            <a:avLst/>
          </a:prstGeom>
          <a:noFill/>
        </p:spPr>
        <p:txBody>
          <a:bodyPr wrap="square">
            <a:spAutoFit/>
          </a:bodyPr>
          <a:lstStyle/>
          <a:p>
            <a:pPr algn="ctr"/>
            <a:r>
              <a:rPr sz="1350" b="0" i="0">
                <a:solidFill>
                  <a:srgbClr val="FFFFFF"/>
                </a:solidFill>
              </a:rPr>
              <a:t>React 19  •  Vite 7  •  Tailwind CSS 3</a:t>
            </a:r>
          </a:p>
        </p:txBody>
      </p:sp>
      <p:sp>
        <p:nvSpPr>
          <p:cNvPr id="10" name="Rectangle 9"/>
          <p:cNvSpPr/>
          <p:nvPr/>
        </p:nvSpPr>
        <p:spPr>
          <a:xfrm>
            <a:off x="548640" y="3200400"/>
            <a:ext cx="31089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37560"/>
            <a:ext cx="3291840" cy="548640"/>
          </a:xfrm>
          <a:prstGeom prst="rect">
            <a:avLst/>
          </a:prstGeom>
          <a:noFill/>
        </p:spPr>
        <p:txBody>
          <a:bodyPr wrap="square">
            <a:spAutoFit/>
          </a:bodyPr>
          <a:lstStyle/>
          <a:p>
            <a:pPr algn="ctr"/>
            <a:r>
              <a:rPr sz="1200" b="0" i="1">
                <a:solidFill>
                  <a:srgbClr val="F2F4F7"/>
                </a:solidFill>
              </a:rPr>
              <a:t>☁  Vercel — CDN mondial (edge network)</a:t>
            </a:r>
          </a:p>
        </p:txBody>
      </p:sp>
      <p:sp>
        <p:nvSpPr>
          <p:cNvPr id="12" name="Rectangle 11"/>
          <p:cNvSpPr/>
          <p:nvPr/>
        </p:nvSpPr>
        <p:spPr>
          <a:xfrm>
            <a:off x="4114800" y="1645920"/>
            <a:ext cx="3474720" cy="41148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1737360"/>
            <a:ext cx="3291840" cy="502920"/>
          </a:xfrm>
          <a:prstGeom prst="rect">
            <a:avLst/>
          </a:prstGeom>
          <a:noFill/>
        </p:spPr>
        <p:txBody>
          <a:bodyPr wrap="square">
            <a:spAutoFit/>
          </a:bodyPr>
          <a:lstStyle/>
          <a:p>
            <a:pPr algn="ctr"/>
            <a:r>
              <a:rPr sz="1200" b="1" i="0">
                <a:solidFill>
                  <a:srgbClr val="FFFFFF"/>
                </a:solidFill>
              </a:rPr>
              <a:t>COUCHE MÉTIER</a:t>
            </a:r>
          </a:p>
        </p:txBody>
      </p:sp>
      <p:sp>
        <p:nvSpPr>
          <p:cNvPr id="14" name="TextBox 13"/>
          <p:cNvSpPr txBox="1"/>
          <p:nvPr/>
        </p:nvSpPr>
        <p:spPr>
          <a:xfrm>
            <a:off x="4251960" y="2331720"/>
            <a:ext cx="3200400" cy="731520"/>
          </a:xfrm>
          <a:prstGeom prst="rect">
            <a:avLst/>
          </a:prstGeom>
          <a:noFill/>
        </p:spPr>
        <p:txBody>
          <a:bodyPr wrap="square">
            <a:spAutoFit/>
          </a:bodyPr>
          <a:lstStyle/>
          <a:p>
            <a:pPr algn="ctr"/>
            <a:r>
              <a:rPr sz="1350" b="0" i="0">
                <a:solidFill>
                  <a:srgbClr val="FFFFFF"/>
                </a:solidFill>
              </a:rPr>
              <a:t>Spring Boot 3  •  Java 17  •  WebSocket STOMP</a:t>
            </a:r>
          </a:p>
        </p:txBody>
      </p:sp>
      <p:sp>
        <p:nvSpPr>
          <p:cNvPr id="15" name="Rectangle 14"/>
          <p:cNvSpPr/>
          <p:nvPr/>
        </p:nvSpPr>
        <p:spPr>
          <a:xfrm>
            <a:off x="4297680" y="3200400"/>
            <a:ext cx="31089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3337560"/>
            <a:ext cx="3291840" cy="548640"/>
          </a:xfrm>
          <a:prstGeom prst="rect">
            <a:avLst/>
          </a:prstGeom>
          <a:noFill/>
        </p:spPr>
        <p:txBody>
          <a:bodyPr wrap="square">
            <a:spAutoFit/>
          </a:bodyPr>
          <a:lstStyle/>
          <a:p>
            <a:pPr algn="ctr"/>
            <a:r>
              <a:rPr sz="1200" b="0" i="1">
                <a:solidFill>
                  <a:srgbClr val="F2F4F7"/>
                </a:solidFill>
              </a:rPr>
              <a:t>☁  Render — Conteneur Linux (Oregon)</a:t>
            </a:r>
          </a:p>
        </p:txBody>
      </p:sp>
      <p:sp>
        <p:nvSpPr>
          <p:cNvPr id="17" name="Rectangle 16"/>
          <p:cNvSpPr/>
          <p:nvPr/>
        </p:nvSpPr>
        <p:spPr>
          <a:xfrm>
            <a:off x="7863840" y="1645920"/>
            <a:ext cx="3474720" cy="41148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0" y="1737360"/>
            <a:ext cx="3291840" cy="502920"/>
          </a:xfrm>
          <a:prstGeom prst="rect">
            <a:avLst/>
          </a:prstGeom>
          <a:noFill/>
        </p:spPr>
        <p:txBody>
          <a:bodyPr wrap="square">
            <a:spAutoFit/>
          </a:bodyPr>
          <a:lstStyle/>
          <a:p>
            <a:pPr algn="ctr"/>
            <a:r>
              <a:rPr sz="1200" b="1" i="0">
                <a:solidFill>
                  <a:srgbClr val="FFFFFF"/>
                </a:solidFill>
              </a:rPr>
              <a:t>COUCHE DONNÉES</a:t>
            </a:r>
          </a:p>
        </p:txBody>
      </p:sp>
      <p:sp>
        <p:nvSpPr>
          <p:cNvPr id="19" name="TextBox 18"/>
          <p:cNvSpPr txBox="1"/>
          <p:nvPr/>
        </p:nvSpPr>
        <p:spPr>
          <a:xfrm>
            <a:off x="8001000" y="2331720"/>
            <a:ext cx="3200400" cy="731520"/>
          </a:xfrm>
          <a:prstGeom prst="rect">
            <a:avLst/>
          </a:prstGeom>
          <a:noFill/>
        </p:spPr>
        <p:txBody>
          <a:bodyPr wrap="square">
            <a:spAutoFit/>
          </a:bodyPr>
          <a:lstStyle/>
          <a:p>
            <a:pPr algn="ctr"/>
            <a:r>
              <a:rPr sz="1350" b="0" i="0">
                <a:solidFill>
                  <a:srgbClr val="FFFFFF"/>
                </a:solidFill>
              </a:rPr>
              <a:t>PostgreSQL 16  •  ENUMs  •  Triggers</a:t>
            </a:r>
          </a:p>
        </p:txBody>
      </p:sp>
      <p:sp>
        <p:nvSpPr>
          <p:cNvPr id="20" name="Rectangle 19"/>
          <p:cNvSpPr/>
          <p:nvPr/>
        </p:nvSpPr>
        <p:spPr>
          <a:xfrm>
            <a:off x="8046720" y="3200400"/>
            <a:ext cx="31089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0" y="3337560"/>
            <a:ext cx="3291840" cy="548640"/>
          </a:xfrm>
          <a:prstGeom prst="rect">
            <a:avLst/>
          </a:prstGeom>
          <a:noFill/>
        </p:spPr>
        <p:txBody>
          <a:bodyPr wrap="square">
            <a:spAutoFit/>
          </a:bodyPr>
          <a:lstStyle/>
          <a:p>
            <a:pPr algn="ctr"/>
            <a:r>
              <a:rPr sz="1200" b="0" i="1">
                <a:solidFill>
                  <a:srgbClr val="F2F4F7"/>
                </a:solidFill>
              </a:rPr>
              <a:t>☁  Neon.tech — Serverless (EU Frankfurt)</a:t>
            </a:r>
          </a:p>
        </p:txBody>
      </p:sp>
      <p:sp>
        <p:nvSpPr>
          <p:cNvPr id="22" name="TextBox 21"/>
          <p:cNvSpPr txBox="1"/>
          <p:nvPr/>
        </p:nvSpPr>
        <p:spPr>
          <a:xfrm>
            <a:off x="3657600" y="3017520"/>
            <a:ext cx="640080" cy="365760"/>
          </a:xfrm>
          <a:prstGeom prst="rect">
            <a:avLst/>
          </a:prstGeom>
          <a:noFill/>
        </p:spPr>
        <p:txBody>
          <a:bodyPr wrap="square">
            <a:spAutoFit/>
          </a:bodyPr>
          <a:lstStyle/>
          <a:p>
            <a:pPr algn="ctr"/>
            <a:r>
              <a:rPr sz="1000" b="0" i="0">
                <a:solidFill>
                  <a:srgbClr val="888888"/>
                </a:solidFill>
              </a:rPr>
              <a:t>←  HTTPS  →</a:t>
            </a:r>
          </a:p>
        </p:txBody>
      </p:sp>
      <p:sp>
        <p:nvSpPr>
          <p:cNvPr id="23" name="TextBox 22"/>
          <p:cNvSpPr txBox="1"/>
          <p:nvPr/>
        </p:nvSpPr>
        <p:spPr>
          <a:xfrm>
            <a:off x="7406640" y="3017520"/>
            <a:ext cx="640080" cy="365760"/>
          </a:xfrm>
          <a:prstGeom prst="rect">
            <a:avLst/>
          </a:prstGeom>
          <a:noFill/>
        </p:spPr>
        <p:txBody>
          <a:bodyPr wrap="square">
            <a:spAutoFit/>
          </a:bodyPr>
          <a:lstStyle/>
          <a:p>
            <a:pPr algn="ctr"/>
            <a:r>
              <a:rPr sz="1000" b="0" i="0">
                <a:solidFill>
                  <a:srgbClr val="888888"/>
                </a:solidFill>
              </a:rPr>
              <a:t>←  JDBC  →</a:t>
            </a:r>
          </a:p>
        </p:txBody>
      </p:sp>
      <p:sp>
        <p:nvSpPr>
          <p:cNvPr id="24" name="Rectangle 23"/>
          <p:cNvSpPr/>
          <p:nvPr/>
        </p:nvSpPr>
        <p:spPr>
          <a:xfrm>
            <a:off x="365760" y="5806440"/>
            <a:ext cx="3474720" cy="6400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852160"/>
            <a:ext cx="3291840" cy="502920"/>
          </a:xfrm>
          <a:prstGeom prst="rect">
            <a:avLst/>
          </a:prstGeom>
          <a:noFill/>
        </p:spPr>
        <p:txBody>
          <a:bodyPr wrap="square">
            <a:spAutoFit/>
          </a:bodyPr>
          <a:lstStyle/>
          <a:p>
            <a:pPr algn="ctr"/>
            <a:r>
              <a:rPr sz="1200" b="0" i="0">
                <a:solidFill>
                  <a:srgbClr val="444444"/>
                </a:solidFill>
              </a:rPr>
              <a:t>Groq AI  (chatbot)</a:t>
            </a:r>
          </a:p>
        </p:txBody>
      </p:sp>
      <p:sp>
        <p:nvSpPr>
          <p:cNvPr id="26" name="Rectangle 25"/>
          <p:cNvSpPr/>
          <p:nvPr/>
        </p:nvSpPr>
        <p:spPr>
          <a:xfrm>
            <a:off x="4297680" y="5806440"/>
            <a:ext cx="3474720" cy="6400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5852160"/>
            <a:ext cx="3291840" cy="502920"/>
          </a:xfrm>
          <a:prstGeom prst="rect">
            <a:avLst/>
          </a:prstGeom>
          <a:noFill/>
        </p:spPr>
        <p:txBody>
          <a:bodyPr wrap="square">
            <a:spAutoFit/>
          </a:bodyPr>
          <a:lstStyle/>
          <a:p>
            <a:pPr algn="ctr"/>
            <a:r>
              <a:rPr sz="1200" b="0" i="0">
                <a:solidFill>
                  <a:srgbClr val="444444"/>
                </a:solidFill>
              </a:rPr>
              <a:t>ElevenLabs  (TTS vocal)</a:t>
            </a:r>
          </a:p>
        </p:txBody>
      </p:sp>
      <p:sp>
        <p:nvSpPr>
          <p:cNvPr id="28" name="Rectangle 27"/>
          <p:cNvSpPr/>
          <p:nvPr/>
        </p:nvSpPr>
        <p:spPr>
          <a:xfrm>
            <a:off x="8229600" y="5806440"/>
            <a:ext cx="3474720" cy="6400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5852160"/>
            <a:ext cx="3291840" cy="502920"/>
          </a:xfrm>
          <a:prstGeom prst="rect">
            <a:avLst/>
          </a:prstGeom>
          <a:noFill/>
        </p:spPr>
        <p:txBody>
          <a:bodyPr wrap="square">
            <a:spAutoFit/>
          </a:bodyPr>
          <a:lstStyle/>
          <a:p>
            <a:pPr algn="ctr"/>
            <a:r>
              <a:rPr sz="1200" b="0" i="0">
                <a:solidFill>
                  <a:srgbClr val="444444"/>
                </a:solidFill>
              </a:rPr>
              <a:t>Stripe  (paiements)</a:t>
            </a:r>
          </a:p>
        </p:txBody>
      </p:sp>
      <p:sp>
        <p:nvSpPr>
          <p:cNvPr id="30" name="TextBox 29"/>
          <p:cNvSpPr txBox="1"/>
          <p:nvPr/>
        </p:nvSpPr>
        <p:spPr>
          <a:xfrm>
            <a:off x="365760" y="5577840"/>
            <a:ext cx="3474720" cy="274320"/>
          </a:xfrm>
          <a:prstGeom prst="rect">
            <a:avLst/>
          </a:prstGeom>
          <a:noFill/>
        </p:spPr>
        <p:txBody>
          <a:bodyPr wrap="square">
            <a:spAutoFit/>
          </a:bodyPr>
          <a:lstStyle/>
          <a:p>
            <a:pPr algn="ctr"/>
            <a:r>
              <a:rPr sz="1000" b="0" i="0">
                <a:solidFill>
                  <a:srgbClr val="888888"/>
                </a:solidFill>
              </a:rPr>
              <a:t>↑  REST API  ↑</a:t>
            </a:r>
          </a:p>
        </p:txBody>
      </p:sp>
      <p:sp>
        <p:nvSpPr>
          <p:cNvPr id="31" name="TextBox 30"/>
          <p:cNvSpPr txBox="1"/>
          <p:nvPr/>
        </p:nvSpPr>
        <p:spPr>
          <a:xfrm>
            <a:off x="4114800" y="5577840"/>
            <a:ext cx="3474720" cy="274320"/>
          </a:xfrm>
          <a:prstGeom prst="rect">
            <a:avLst/>
          </a:prstGeom>
          <a:noFill/>
        </p:spPr>
        <p:txBody>
          <a:bodyPr wrap="square">
            <a:spAutoFit/>
          </a:bodyPr>
          <a:lstStyle/>
          <a:p>
            <a:pPr algn="ctr"/>
            <a:r>
              <a:rPr sz="1000" b="0" i="0">
                <a:solidFill>
                  <a:srgbClr val="888888"/>
                </a:solidFill>
              </a:rPr>
              <a:t>↑  REST API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Choix Technologiques</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Justification de chaque technologie retenue</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5 / 15</a:t>
            </a:r>
          </a:p>
        </p:txBody>
      </p:sp>
      <p:sp>
        <p:nvSpPr>
          <p:cNvPr id="7" name="Rectangle 6"/>
          <p:cNvSpPr/>
          <p:nvPr/>
        </p:nvSpPr>
        <p:spPr>
          <a:xfrm>
            <a:off x="365760" y="1737360"/>
            <a:ext cx="5394960" cy="1371600"/>
          </a:xfrm>
          <a:prstGeom prst="rect">
            <a:avLst/>
          </a:prstGeom>
          <a:solidFill>
            <a:srgbClr val="F2F4F7"/>
          </a:solidFill>
          <a:ln w="25400">
            <a:solidFill>
              <a:srgbClr val="1A2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37360"/>
            <a:ext cx="164592" cy="13716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28800"/>
            <a:ext cx="5029200" cy="411480"/>
          </a:xfrm>
          <a:prstGeom prst="rect">
            <a:avLst/>
          </a:prstGeom>
          <a:noFill/>
        </p:spPr>
        <p:txBody>
          <a:bodyPr wrap="square">
            <a:spAutoFit/>
          </a:bodyPr>
          <a:lstStyle/>
          <a:p>
            <a:pPr algn="l"/>
            <a:r>
              <a:rPr sz="1400" b="1" i="0">
                <a:solidFill>
                  <a:srgbClr val="1A235E"/>
                </a:solidFill>
              </a:rPr>
              <a:t>Spring Boot 3.5 + Java 17</a:t>
            </a:r>
          </a:p>
        </p:txBody>
      </p:sp>
      <p:sp>
        <p:nvSpPr>
          <p:cNvPr id="10" name="TextBox 9"/>
          <p:cNvSpPr txBox="1"/>
          <p:nvPr/>
        </p:nvSpPr>
        <p:spPr>
          <a:xfrm>
            <a:off x="621792" y="2240280"/>
            <a:ext cx="5029200" cy="777240"/>
          </a:xfrm>
          <a:prstGeom prst="rect">
            <a:avLst/>
          </a:prstGeom>
          <a:noFill/>
        </p:spPr>
        <p:txBody>
          <a:bodyPr wrap="square">
            <a:spAutoFit/>
          </a:bodyPr>
          <a:lstStyle/>
          <a:p>
            <a:pPr algn="l"/>
            <a:r>
              <a:rPr sz="1200" b="0" i="0">
                <a:solidFill>
                  <a:srgbClr val="444444"/>
                </a:solidFill>
              </a:rPr>
              <a:t>Standard industriel Java, auto-configuration, écosystème Spring Data JPA + WebSocket</a:t>
            </a:r>
          </a:p>
        </p:txBody>
      </p:sp>
      <p:sp>
        <p:nvSpPr>
          <p:cNvPr id="11" name="Rectangle 10"/>
          <p:cNvSpPr/>
          <p:nvPr/>
        </p:nvSpPr>
        <p:spPr>
          <a:xfrm>
            <a:off x="6217920" y="1737360"/>
            <a:ext cx="5394960" cy="1371600"/>
          </a:xfrm>
          <a:prstGeom prst="rect">
            <a:avLst/>
          </a:prstGeom>
          <a:solidFill>
            <a:srgbClr val="F2F4F7"/>
          </a:solidFill>
          <a:ln w="2540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737360"/>
            <a:ext cx="164592" cy="13716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828800"/>
            <a:ext cx="5029200" cy="411480"/>
          </a:xfrm>
          <a:prstGeom prst="rect">
            <a:avLst/>
          </a:prstGeom>
          <a:noFill/>
        </p:spPr>
        <p:txBody>
          <a:bodyPr wrap="square">
            <a:spAutoFit/>
          </a:bodyPr>
          <a:lstStyle/>
          <a:p>
            <a:pPr algn="l"/>
            <a:r>
              <a:rPr sz="1400" b="1" i="0">
                <a:solidFill>
                  <a:srgbClr val="1A235E"/>
                </a:solidFill>
              </a:rPr>
              <a:t>React 19 + Vite 7</a:t>
            </a:r>
          </a:p>
        </p:txBody>
      </p:sp>
      <p:sp>
        <p:nvSpPr>
          <p:cNvPr id="14" name="TextBox 13"/>
          <p:cNvSpPr txBox="1"/>
          <p:nvPr/>
        </p:nvSpPr>
        <p:spPr>
          <a:xfrm>
            <a:off x="6473952" y="2240280"/>
            <a:ext cx="5029200" cy="777240"/>
          </a:xfrm>
          <a:prstGeom prst="rect">
            <a:avLst/>
          </a:prstGeom>
          <a:noFill/>
        </p:spPr>
        <p:txBody>
          <a:bodyPr wrap="square">
            <a:spAutoFit/>
          </a:bodyPr>
          <a:lstStyle/>
          <a:p>
            <a:pPr algn="l"/>
            <a:r>
              <a:rPr sz="1200" b="0" i="0">
                <a:solidFill>
                  <a:srgbClr val="444444"/>
                </a:solidFill>
              </a:rPr>
              <a:t>DOM virtuel, hooks, HMR ultra-rapide, CDN Vercel — SPA moderne et maintenable</a:t>
            </a:r>
          </a:p>
        </p:txBody>
      </p:sp>
      <p:sp>
        <p:nvSpPr>
          <p:cNvPr id="15" name="Rectangle 14"/>
          <p:cNvSpPr/>
          <p:nvPr/>
        </p:nvSpPr>
        <p:spPr>
          <a:xfrm>
            <a:off x="365760" y="3246120"/>
            <a:ext cx="5394960" cy="1371600"/>
          </a:xfrm>
          <a:prstGeom prst="rect">
            <a:avLst/>
          </a:prstGeom>
          <a:solidFill>
            <a:srgbClr val="F2F4F7"/>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246120"/>
            <a:ext cx="164592" cy="13716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337560"/>
            <a:ext cx="5029200" cy="411480"/>
          </a:xfrm>
          <a:prstGeom prst="rect">
            <a:avLst/>
          </a:prstGeom>
          <a:noFill/>
        </p:spPr>
        <p:txBody>
          <a:bodyPr wrap="square">
            <a:spAutoFit/>
          </a:bodyPr>
          <a:lstStyle/>
          <a:p>
            <a:pPr algn="l"/>
            <a:r>
              <a:rPr sz="1400" b="1" i="0">
                <a:solidFill>
                  <a:srgbClr val="1A235E"/>
                </a:solidFill>
              </a:rPr>
              <a:t>PostgreSQL 16 (Neon.tech)</a:t>
            </a:r>
          </a:p>
        </p:txBody>
      </p:sp>
      <p:sp>
        <p:nvSpPr>
          <p:cNvPr id="18" name="TextBox 17"/>
          <p:cNvSpPr txBox="1"/>
          <p:nvPr/>
        </p:nvSpPr>
        <p:spPr>
          <a:xfrm>
            <a:off x="621792" y="3749040"/>
            <a:ext cx="5029200" cy="777240"/>
          </a:xfrm>
          <a:prstGeom prst="rect">
            <a:avLst/>
          </a:prstGeom>
          <a:noFill/>
        </p:spPr>
        <p:txBody>
          <a:bodyPr wrap="square">
            <a:spAutoFit/>
          </a:bodyPr>
          <a:lstStyle/>
          <a:p>
            <a:pPr algn="l"/>
            <a:r>
              <a:rPr sz="1200" b="0" i="0">
                <a:solidFill>
                  <a:srgbClr val="444444"/>
                </a:solidFill>
              </a:rPr>
              <a:t>ENUMs natifs, triggers avancés, serverless EU (RGPD), scaling automatique</a:t>
            </a:r>
          </a:p>
        </p:txBody>
      </p:sp>
      <p:sp>
        <p:nvSpPr>
          <p:cNvPr id="19" name="Rectangle 18"/>
          <p:cNvSpPr/>
          <p:nvPr/>
        </p:nvSpPr>
        <p:spPr>
          <a:xfrm>
            <a:off x="6217920" y="3246120"/>
            <a:ext cx="5394960" cy="1371600"/>
          </a:xfrm>
          <a:prstGeom prst="rect">
            <a:avLst/>
          </a:prstGeom>
          <a:solidFill>
            <a:srgbClr val="F2F4F7"/>
          </a:solidFill>
          <a:ln w="25400">
            <a:solidFill>
              <a:srgbClr val="1A2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246120"/>
            <a:ext cx="164592" cy="13716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337560"/>
            <a:ext cx="5029200" cy="411480"/>
          </a:xfrm>
          <a:prstGeom prst="rect">
            <a:avLst/>
          </a:prstGeom>
          <a:noFill/>
        </p:spPr>
        <p:txBody>
          <a:bodyPr wrap="square">
            <a:spAutoFit/>
          </a:bodyPr>
          <a:lstStyle/>
          <a:p>
            <a:pPr algn="l"/>
            <a:r>
              <a:rPr sz="1400" b="1" i="0">
                <a:solidFill>
                  <a:srgbClr val="1A235E"/>
                </a:solidFill>
              </a:rPr>
              <a:t>Groq API — LLaMA 3.1-8b</a:t>
            </a:r>
          </a:p>
        </p:txBody>
      </p:sp>
      <p:sp>
        <p:nvSpPr>
          <p:cNvPr id="22" name="TextBox 21"/>
          <p:cNvSpPr txBox="1"/>
          <p:nvPr/>
        </p:nvSpPr>
        <p:spPr>
          <a:xfrm>
            <a:off x="6473952" y="3749040"/>
            <a:ext cx="5029200" cy="777240"/>
          </a:xfrm>
          <a:prstGeom prst="rect">
            <a:avLst/>
          </a:prstGeom>
          <a:noFill/>
        </p:spPr>
        <p:txBody>
          <a:bodyPr wrap="square">
            <a:spAutoFit/>
          </a:bodyPr>
          <a:lstStyle/>
          <a:p>
            <a:pPr algn="l"/>
            <a:r>
              <a:rPr sz="1200" b="0" i="0">
                <a:solidFill>
                  <a:srgbClr val="444444"/>
                </a:solidFill>
              </a:rPr>
              <a:t>Latence &lt; 1s (LPU), 5x plus rapide qu'OpenAI — essentiel pour le chatbot vocal</a:t>
            </a:r>
          </a:p>
        </p:txBody>
      </p:sp>
      <p:sp>
        <p:nvSpPr>
          <p:cNvPr id="23" name="Rectangle 22"/>
          <p:cNvSpPr/>
          <p:nvPr/>
        </p:nvSpPr>
        <p:spPr>
          <a:xfrm>
            <a:off x="365760" y="4754879"/>
            <a:ext cx="5394960" cy="1371600"/>
          </a:xfrm>
          <a:prstGeom prst="rect">
            <a:avLst/>
          </a:prstGeom>
          <a:solidFill>
            <a:srgbClr val="F2F4F7"/>
          </a:solidFill>
          <a:ln w="2540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754879"/>
            <a:ext cx="164592" cy="13716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4846319"/>
            <a:ext cx="5029200" cy="411480"/>
          </a:xfrm>
          <a:prstGeom prst="rect">
            <a:avLst/>
          </a:prstGeom>
          <a:noFill/>
        </p:spPr>
        <p:txBody>
          <a:bodyPr wrap="square">
            <a:spAutoFit/>
          </a:bodyPr>
          <a:lstStyle/>
          <a:p>
            <a:pPr algn="l"/>
            <a:r>
              <a:rPr sz="1400" b="1" i="0">
                <a:solidFill>
                  <a:srgbClr val="1A235E"/>
                </a:solidFill>
              </a:rPr>
              <a:t>ElevenLabs TTS</a:t>
            </a:r>
          </a:p>
        </p:txBody>
      </p:sp>
      <p:sp>
        <p:nvSpPr>
          <p:cNvPr id="26" name="TextBox 25"/>
          <p:cNvSpPr txBox="1"/>
          <p:nvPr/>
        </p:nvSpPr>
        <p:spPr>
          <a:xfrm>
            <a:off x="621792" y="5257799"/>
            <a:ext cx="5029200" cy="777240"/>
          </a:xfrm>
          <a:prstGeom prst="rect">
            <a:avLst/>
          </a:prstGeom>
          <a:noFill/>
        </p:spPr>
        <p:txBody>
          <a:bodyPr wrap="square">
            <a:spAutoFit/>
          </a:bodyPr>
          <a:lstStyle/>
          <a:p>
            <a:pPr algn="l"/>
            <a:r>
              <a:rPr sz="1200" b="0" i="0">
                <a:solidFill>
                  <a:srgbClr val="444444"/>
                </a:solidFill>
              </a:rPr>
              <a:t>Voix française naturelle, modèle turbo v2.5, API REST simple, fallback navigateur prévu</a:t>
            </a:r>
          </a:p>
        </p:txBody>
      </p:sp>
      <p:sp>
        <p:nvSpPr>
          <p:cNvPr id="27" name="Rectangle 26"/>
          <p:cNvSpPr/>
          <p:nvPr/>
        </p:nvSpPr>
        <p:spPr>
          <a:xfrm>
            <a:off x="6217920" y="4754879"/>
            <a:ext cx="5394960" cy="1371600"/>
          </a:xfrm>
          <a:prstGeom prst="rect">
            <a:avLst/>
          </a:prstGeom>
          <a:solidFill>
            <a:srgbClr val="F2F4F7"/>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754879"/>
            <a:ext cx="164592" cy="13716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3952" y="4846319"/>
            <a:ext cx="5029200" cy="411480"/>
          </a:xfrm>
          <a:prstGeom prst="rect">
            <a:avLst/>
          </a:prstGeom>
          <a:noFill/>
        </p:spPr>
        <p:txBody>
          <a:bodyPr wrap="square">
            <a:spAutoFit/>
          </a:bodyPr>
          <a:lstStyle/>
          <a:p>
            <a:pPr algn="l"/>
            <a:r>
              <a:rPr sz="1400" b="1" i="0">
                <a:solidFill>
                  <a:srgbClr val="1A235E"/>
                </a:solidFill>
              </a:rPr>
              <a:t>Stripe</a:t>
            </a:r>
          </a:p>
        </p:txBody>
      </p:sp>
      <p:sp>
        <p:nvSpPr>
          <p:cNvPr id="30" name="TextBox 29"/>
          <p:cNvSpPr txBox="1"/>
          <p:nvPr/>
        </p:nvSpPr>
        <p:spPr>
          <a:xfrm>
            <a:off x="6473952" y="5257799"/>
            <a:ext cx="5029200" cy="777240"/>
          </a:xfrm>
          <a:prstGeom prst="rect">
            <a:avLst/>
          </a:prstGeom>
          <a:noFill/>
        </p:spPr>
        <p:txBody>
          <a:bodyPr wrap="square">
            <a:spAutoFit/>
          </a:bodyPr>
          <a:lstStyle/>
          <a:p>
            <a:pPr algn="l"/>
            <a:r>
              <a:rPr sz="1200" b="0" i="0">
                <a:solidFill>
                  <a:srgbClr val="444444"/>
                </a:solidFill>
              </a:rPr>
              <a:t>Standard industrie, 3D Secure natif, webhooks, données bancaires jamais sur notre serveur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Les 6 Rôles du Système</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Contrôle d'accès par rôle (RBAC) — 26 user stories</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6 / 15</a:t>
            </a:r>
          </a:p>
        </p:txBody>
      </p:sp>
      <p:sp>
        <p:nvSpPr>
          <p:cNvPr id="7" name="Rectangle 6"/>
          <p:cNvSpPr/>
          <p:nvPr/>
        </p:nvSpPr>
        <p:spPr>
          <a:xfrm>
            <a:off x="365760" y="1691640"/>
            <a:ext cx="3657600" cy="201168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3474720" cy="502920"/>
          </a:xfrm>
          <a:prstGeom prst="rect">
            <a:avLst/>
          </a:prstGeom>
          <a:noFill/>
        </p:spPr>
        <p:txBody>
          <a:bodyPr wrap="square">
            <a:spAutoFit/>
          </a:bodyPr>
          <a:lstStyle/>
          <a:p>
            <a:pPr algn="l"/>
            <a:r>
              <a:rPr sz="1500" b="1" i="0">
                <a:solidFill>
                  <a:srgbClr val="FFFFFF"/>
                </a:solidFill>
              </a:rPr>
              <a:t>👤  ADMIN</a:t>
            </a:r>
          </a:p>
        </p:txBody>
      </p:sp>
      <p:sp>
        <p:nvSpPr>
          <p:cNvPr id="9" name="TextBox 8"/>
          <p:cNvSpPr txBox="1"/>
          <p:nvPr/>
        </p:nvSpPr>
        <p:spPr>
          <a:xfrm>
            <a:off x="502920" y="2377440"/>
            <a:ext cx="3383280" cy="1188720"/>
          </a:xfrm>
          <a:prstGeom prst="rect">
            <a:avLst/>
          </a:prstGeom>
          <a:noFill/>
        </p:spPr>
        <p:txBody>
          <a:bodyPr wrap="square">
            <a:spAutoFit/>
          </a:bodyPr>
          <a:lstStyle/>
          <a:p>
            <a:pPr algn="l"/>
            <a:r>
              <a:rPr sz="1250" b="0" i="0">
                <a:solidFill>
                  <a:srgbClr val="F2F4F7"/>
                </a:solidFill>
              </a:rPr>
              <a:t>Dashboard analytique, gestion personnel,
fournisseurs, catalogue, audit log</a:t>
            </a:r>
          </a:p>
        </p:txBody>
      </p:sp>
      <p:sp>
        <p:nvSpPr>
          <p:cNvPr id="10" name="Rectangle 9"/>
          <p:cNvSpPr/>
          <p:nvPr/>
        </p:nvSpPr>
        <p:spPr>
          <a:xfrm>
            <a:off x="4297680" y="1691640"/>
            <a:ext cx="3657600" cy="201168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828800"/>
            <a:ext cx="3474720" cy="502920"/>
          </a:xfrm>
          <a:prstGeom prst="rect">
            <a:avLst/>
          </a:prstGeom>
          <a:noFill/>
        </p:spPr>
        <p:txBody>
          <a:bodyPr wrap="square">
            <a:spAutoFit/>
          </a:bodyPr>
          <a:lstStyle/>
          <a:p>
            <a:pPr algn="l"/>
            <a:r>
              <a:rPr sz="1500" b="1" i="0">
                <a:solidFill>
                  <a:srgbClr val="FFFFFF"/>
                </a:solidFill>
              </a:rPr>
              <a:t>💰  CAISSIER</a:t>
            </a:r>
          </a:p>
        </p:txBody>
      </p:sp>
      <p:sp>
        <p:nvSpPr>
          <p:cNvPr id="12" name="TextBox 11"/>
          <p:cNvSpPr txBox="1"/>
          <p:nvPr/>
        </p:nvSpPr>
        <p:spPr>
          <a:xfrm>
            <a:off x="4434840" y="2377440"/>
            <a:ext cx="3383280" cy="1188720"/>
          </a:xfrm>
          <a:prstGeom prst="rect">
            <a:avLst/>
          </a:prstGeom>
          <a:noFill/>
        </p:spPr>
        <p:txBody>
          <a:bodyPr wrap="square">
            <a:spAutoFit/>
          </a:bodyPr>
          <a:lstStyle/>
          <a:p>
            <a:pPr algn="l"/>
            <a:r>
              <a:rPr sz="1250" b="0" i="0">
                <a:solidFill>
                  <a:srgbClr val="F2F4F7"/>
                </a:solidFill>
              </a:rPr>
              <a:t>Encaissement (CASH/CARD/Stripe),
ticket PDF, annulation commande</a:t>
            </a:r>
          </a:p>
        </p:txBody>
      </p:sp>
      <p:sp>
        <p:nvSpPr>
          <p:cNvPr id="13" name="Rectangle 12"/>
          <p:cNvSpPr/>
          <p:nvPr/>
        </p:nvSpPr>
        <p:spPr>
          <a:xfrm>
            <a:off x="8229600" y="1691640"/>
            <a:ext cx="3657600" cy="2011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828800"/>
            <a:ext cx="3474720" cy="502920"/>
          </a:xfrm>
          <a:prstGeom prst="rect">
            <a:avLst/>
          </a:prstGeom>
          <a:noFill/>
        </p:spPr>
        <p:txBody>
          <a:bodyPr wrap="square">
            <a:spAutoFit/>
          </a:bodyPr>
          <a:lstStyle/>
          <a:p>
            <a:pPr algn="l"/>
            <a:r>
              <a:rPr sz="1500" b="1" i="0">
                <a:solidFill>
                  <a:srgbClr val="FFFFFF"/>
                </a:solidFill>
              </a:rPr>
              <a:t>🍽  SERVEUR</a:t>
            </a:r>
          </a:p>
        </p:txBody>
      </p:sp>
      <p:sp>
        <p:nvSpPr>
          <p:cNvPr id="15" name="TextBox 14"/>
          <p:cNvSpPr txBox="1"/>
          <p:nvPr/>
        </p:nvSpPr>
        <p:spPr>
          <a:xfrm>
            <a:off x="8366760" y="2377440"/>
            <a:ext cx="3383280" cy="1188720"/>
          </a:xfrm>
          <a:prstGeom prst="rect">
            <a:avLst/>
          </a:prstGeom>
          <a:noFill/>
        </p:spPr>
        <p:txBody>
          <a:bodyPr wrap="square">
            <a:spAutoFit/>
          </a:bodyPr>
          <a:lstStyle/>
          <a:p>
            <a:pPr algn="l"/>
            <a:r>
              <a:rPr sz="1250" b="0" i="0">
                <a:solidFill>
                  <a:srgbClr val="F2F4F7"/>
                </a:solidFill>
              </a:rPr>
              <a:t>Prise de commande en salle,
gestion tables &amp; réservations</a:t>
            </a:r>
          </a:p>
        </p:txBody>
      </p:sp>
      <p:sp>
        <p:nvSpPr>
          <p:cNvPr id="16" name="Rectangle 15"/>
          <p:cNvSpPr/>
          <p:nvPr/>
        </p:nvSpPr>
        <p:spPr>
          <a:xfrm>
            <a:off x="365760" y="3977639"/>
            <a:ext cx="3657600" cy="201168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14799"/>
            <a:ext cx="3474720" cy="502920"/>
          </a:xfrm>
          <a:prstGeom prst="rect">
            <a:avLst/>
          </a:prstGeom>
          <a:noFill/>
        </p:spPr>
        <p:txBody>
          <a:bodyPr wrap="square">
            <a:spAutoFit/>
          </a:bodyPr>
          <a:lstStyle/>
          <a:p>
            <a:pPr algn="l"/>
            <a:r>
              <a:rPr sz="1500" b="1" i="0">
                <a:solidFill>
                  <a:srgbClr val="FFFFFF"/>
                </a:solidFill>
              </a:rPr>
              <a:t>👨‍🍳  CUISINIER</a:t>
            </a:r>
          </a:p>
        </p:txBody>
      </p:sp>
      <p:sp>
        <p:nvSpPr>
          <p:cNvPr id="18" name="TextBox 17"/>
          <p:cNvSpPr txBox="1"/>
          <p:nvPr/>
        </p:nvSpPr>
        <p:spPr>
          <a:xfrm>
            <a:off x="502920" y="4663439"/>
            <a:ext cx="3383280" cy="1188720"/>
          </a:xfrm>
          <a:prstGeom prst="rect">
            <a:avLst/>
          </a:prstGeom>
          <a:noFill/>
        </p:spPr>
        <p:txBody>
          <a:bodyPr wrap="square">
            <a:spAutoFit/>
          </a:bodyPr>
          <a:lstStyle/>
          <a:p>
            <a:pPr algn="l"/>
            <a:r>
              <a:rPr sz="1250" b="0" i="0">
                <a:solidFill>
                  <a:srgbClr val="F2F4F7"/>
                </a:solidFill>
              </a:rPr>
              <a:t>Réception commandes temps réel,
statuts préparation, alertes stock</a:t>
            </a:r>
          </a:p>
        </p:txBody>
      </p:sp>
      <p:sp>
        <p:nvSpPr>
          <p:cNvPr id="19" name="Rectangle 18"/>
          <p:cNvSpPr/>
          <p:nvPr/>
        </p:nvSpPr>
        <p:spPr>
          <a:xfrm>
            <a:off x="4297680" y="3977639"/>
            <a:ext cx="3657600" cy="201168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4114799"/>
            <a:ext cx="3474720" cy="502920"/>
          </a:xfrm>
          <a:prstGeom prst="rect">
            <a:avLst/>
          </a:prstGeom>
          <a:noFill/>
        </p:spPr>
        <p:txBody>
          <a:bodyPr wrap="square">
            <a:spAutoFit/>
          </a:bodyPr>
          <a:lstStyle/>
          <a:p>
            <a:pPr algn="l"/>
            <a:r>
              <a:rPr sz="1500" b="1" i="0">
                <a:solidFill>
                  <a:srgbClr val="FFFFFF"/>
                </a:solidFill>
              </a:rPr>
              <a:t>📱  CLIENT</a:t>
            </a:r>
          </a:p>
        </p:txBody>
      </p:sp>
      <p:sp>
        <p:nvSpPr>
          <p:cNvPr id="21" name="TextBox 20"/>
          <p:cNvSpPr txBox="1"/>
          <p:nvPr/>
        </p:nvSpPr>
        <p:spPr>
          <a:xfrm>
            <a:off x="4434840" y="4663439"/>
            <a:ext cx="3383280" cy="1188720"/>
          </a:xfrm>
          <a:prstGeom prst="rect">
            <a:avLst/>
          </a:prstGeom>
          <a:noFill/>
        </p:spPr>
        <p:txBody>
          <a:bodyPr wrap="square">
            <a:spAutoFit/>
          </a:bodyPr>
          <a:lstStyle/>
          <a:p>
            <a:pPr algn="l"/>
            <a:r>
              <a:rPr sz="1250" b="0" i="0">
                <a:solidFill>
                  <a:srgbClr val="F2F4F7"/>
                </a:solidFill>
              </a:rPr>
              <a:t>Menu en ligne, commandes, réservations,
paiement Stripe, chatbot vocal, avis</a:t>
            </a:r>
          </a:p>
        </p:txBody>
      </p:sp>
      <p:sp>
        <p:nvSpPr>
          <p:cNvPr id="22" name="Rectangle 21"/>
          <p:cNvSpPr/>
          <p:nvPr/>
        </p:nvSpPr>
        <p:spPr>
          <a:xfrm>
            <a:off x="8229600" y="3977639"/>
            <a:ext cx="3657600" cy="2011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4114799"/>
            <a:ext cx="3474720" cy="502920"/>
          </a:xfrm>
          <a:prstGeom prst="rect">
            <a:avLst/>
          </a:prstGeom>
          <a:noFill/>
        </p:spPr>
        <p:txBody>
          <a:bodyPr wrap="square">
            <a:spAutoFit/>
          </a:bodyPr>
          <a:lstStyle/>
          <a:p>
            <a:pPr algn="l"/>
            <a:r>
              <a:rPr sz="1500" b="1" i="0">
                <a:solidFill>
                  <a:srgbClr val="FFFFFF"/>
                </a:solidFill>
              </a:rPr>
              <a:t>🚚  FOURNISSEUR</a:t>
            </a:r>
          </a:p>
        </p:txBody>
      </p:sp>
      <p:sp>
        <p:nvSpPr>
          <p:cNvPr id="24" name="TextBox 23"/>
          <p:cNvSpPr txBox="1"/>
          <p:nvPr/>
        </p:nvSpPr>
        <p:spPr>
          <a:xfrm>
            <a:off x="8366760" y="4663439"/>
            <a:ext cx="3383280" cy="1188720"/>
          </a:xfrm>
          <a:prstGeom prst="rect">
            <a:avLst/>
          </a:prstGeom>
          <a:noFill/>
        </p:spPr>
        <p:txBody>
          <a:bodyPr wrap="square">
            <a:spAutoFit/>
          </a:bodyPr>
          <a:lstStyle/>
          <a:p>
            <a:pPr algn="l"/>
            <a:r>
              <a:rPr sz="1250" b="0" i="0">
                <a:solidFill>
                  <a:srgbClr val="F2F4F7"/>
                </a:solidFill>
              </a:rPr>
              <a:t>Commandes d'approvisionnement,
confirmation livraisons, produits en alerte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35E"/>
        </a:solidFill>
        <a:effectLst/>
      </p:bgPr>
    </p:bg>
    <p:spTree>
      <p:nvGrpSpPr>
        <p:cNvPr id="1" name=""/>
        <p:cNvGrpSpPr/>
        <p:nvPr/>
      </p:nvGrpSpPr>
      <p:grpSpPr/>
      <p:sp>
        <p:nvSpPr>
          <p:cNvPr id="2" name="Rectangle 1"/>
          <p:cNvSpPr/>
          <p:nvPr/>
        </p:nvSpPr>
        <p:spPr>
          <a:xfrm>
            <a:off x="0" y="2286000"/>
            <a:ext cx="12188952" cy="9144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88952" cy="914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74552" cy="1097280"/>
          </a:xfrm>
          <a:prstGeom prst="rect">
            <a:avLst/>
          </a:prstGeom>
          <a:noFill/>
        </p:spPr>
        <p:txBody>
          <a:bodyPr wrap="square">
            <a:spAutoFit/>
          </a:bodyPr>
          <a:lstStyle/>
          <a:p>
            <a:pPr algn="ctr"/>
            <a:r>
              <a:rPr sz="5800" b="1" i="0">
                <a:solidFill>
                  <a:srgbClr val="FFFFFF"/>
                </a:solidFill>
              </a:rPr>
              <a:t>DÉMONSTRATION</a:t>
            </a:r>
          </a:p>
        </p:txBody>
      </p:sp>
      <p:sp>
        <p:nvSpPr>
          <p:cNvPr id="5" name="TextBox 4"/>
          <p:cNvSpPr txBox="1"/>
          <p:nvPr/>
        </p:nvSpPr>
        <p:spPr>
          <a:xfrm>
            <a:off x="457200" y="2468880"/>
            <a:ext cx="11274552" cy="548640"/>
          </a:xfrm>
          <a:prstGeom prst="rect">
            <a:avLst/>
          </a:prstGeom>
          <a:noFill/>
        </p:spPr>
        <p:txBody>
          <a:bodyPr wrap="square">
            <a:spAutoFit/>
          </a:bodyPr>
          <a:lstStyle/>
          <a:p>
            <a:pPr algn="ctr"/>
            <a:r>
              <a:rPr sz="2000" b="0" i="1">
                <a:solidFill>
                  <a:srgbClr val="007A8A"/>
                </a:solidFill>
              </a:rPr>
              <a:t>Application en production — Live Demo</a:t>
            </a:r>
          </a:p>
        </p:txBody>
      </p:sp>
      <p:sp>
        <p:nvSpPr>
          <p:cNvPr id="6" name="TextBox 5"/>
          <p:cNvSpPr txBox="1"/>
          <p:nvPr/>
        </p:nvSpPr>
        <p:spPr>
          <a:xfrm>
            <a:off x="2286000" y="3108960"/>
            <a:ext cx="8229600" cy="548640"/>
          </a:xfrm>
          <a:prstGeom prst="rect">
            <a:avLst/>
          </a:prstGeom>
          <a:noFill/>
        </p:spPr>
        <p:txBody>
          <a:bodyPr wrap="square">
            <a:spAutoFit/>
          </a:bodyPr>
          <a:lstStyle/>
          <a:p>
            <a:pPr algn="ctr"/>
            <a:r>
              <a:rPr sz="1600" b="0" i="0">
                <a:solidFill>
                  <a:srgbClr val="F2F4F7"/>
                </a:solidFill>
              </a:rPr>
              <a:t>1. Dashboard Admin &amp; Tableau de bord</a:t>
            </a:r>
          </a:p>
        </p:txBody>
      </p:sp>
      <p:sp>
        <p:nvSpPr>
          <p:cNvPr id="7" name="TextBox 6"/>
          <p:cNvSpPr txBox="1"/>
          <p:nvPr/>
        </p:nvSpPr>
        <p:spPr>
          <a:xfrm>
            <a:off x="2286000" y="3703320"/>
            <a:ext cx="8229600" cy="548640"/>
          </a:xfrm>
          <a:prstGeom prst="rect">
            <a:avLst/>
          </a:prstGeom>
          <a:noFill/>
        </p:spPr>
        <p:txBody>
          <a:bodyPr wrap="square">
            <a:spAutoFit/>
          </a:bodyPr>
          <a:lstStyle/>
          <a:p>
            <a:pPr algn="ctr"/>
            <a:r>
              <a:rPr sz="1600" b="0" i="0">
                <a:solidFill>
                  <a:srgbClr val="F2F4F7"/>
                </a:solidFill>
              </a:rPr>
              <a:t>2. Commande en temps réel (WebSocket)</a:t>
            </a:r>
          </a:p>
        </p:txBody>
      </p:sp>
      <p:sp>
        <p:nvSpPr>
          <p:cNvPr id="8" name="TextBox 7"/>
          <p:cNvSpPr txBox="1"/>
          <p:nvPr/>
        </p:nvSpPr>
        <p:spPr>
          <a:xfrm>
            <a:off x="2286000" y="4297680"/>
            <a:ext cx="8229600" cy="548640"/>
          </a:xfrm>
          <a:prstGeom prst="rect">
            <a:avLst/>
          </a:prstGeom>
          <a:noFill/>
        </p:spPr>
        <p:txBody>
          <a:bodyPr wrap="square">
            <a:spAutoFit/>
          </a:bodyPr>
          <a:lstStyle/>
          <a:p>
            <a:pPr algn="ctr"/>
            <a:r>
              <a:rPr sz="1600" b="0" i="0">
                <a:solidFill>
                  <a:srgbClr val="F2F4F7"/>
                </a:solidFill>
              </a:rPr>
              <a:t>3. Paiement Stripe &amp; Ticket PDF</a:t>
            </a:r>
          </a:p>
        </p:txBody>
      </p:sp>
      <p:sp>
        <p:nvSpPr>
          <p:cNvPr id="9" name="TextBox 8"/>
          <p:cNvSpPr txBox="1"/>
          <p:nvPr/>
        </p:nvSpPr>
        <p:spPr>
          <a:xfrm>
            <a:off x="2286000" y="4892040"/>
            <a:ext cx="8229600" cy="548640"/>
          </a:xfrm>
          <a:prstGeom prst="rect">
            <a:avLst/>
          </a:prstGeom>
          <a:noFill/>
        </p:spPr>
        <p:txBody>
          <a:bodyPr wrap="square">
            <a:spAutoFit/>
          </a:bodyPr>
          <a:lstStyle/>
          <a:p>
            <a:pPr algn="ctr"/>
            <a:r>
              <a:rPr sz="1600" b="0" i="0">
                <a:solidFill>
                  <a:srgbClr val="F2F4F7"/>
                </a:solidFill>
              </a:rPr>
              <a:t>4. Chatbot Vocal (Groq + ElevenLabs)</a:t>
            </a:r>
          </a:p>
        </p:txBody>
      </p:sp>
      <p:sp>
        <p:nvSpPr>
          <p:cNvPr id="10" name="TextBox 9"/>
          <p:cNvSpPr txBox="1"/>
          <p:nvPr/>
        </p:nvSpPr>
        <p:spPr>
          <a:xfrm>
            <a:off x="2286000" y="5486400"/>
            <a:ext cx="8229600" cy="548640"/>
          </a:xfrm>
          <a:prstGeom prst="rect">
            <a:avLst/>
          </a:prstGeom>
          <a:noFill/>
        </p:spPr>
        <p:txBody>
          <a:bodyPr wrap="square">
            <a:spAutoFit/>
          </a:bodyPr>
          <a:lstStyle/>
          <a:p>
            <a:pPr algn="ctr"/>
            <a:r>
              <a:rPr sz="1600" b="0" i="0">
                <a:solidFill>
                  <a:srgbClr val="F2F4F7"/>
                </a:solidFill>
              </a:rPr>
              <a:t>5. Réservation client en ligne</a:t>
            </a:r>
          </a:p>
        </p:txBody>
      </p:sp>
      <p:sp>
        <p:nvSpPr>
          <p:cNvPr id="11" name="TextBox 10"/>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Démo 1 — Dashboard Admin</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KPIs, gestion catalogue, alertes stock en temps réel</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8 / 15</a:t>
            </a:r>
          </a:p>
        </p:txBody>
      </p:sp>
      <p:sp>
        <p:nvSpPr>
          <p:cNvPr id="7" name="TextBox 6"/>
          <p:cNvSpPr txBox="1"/>
          <p:nvPr/>
        </p:nvSpPr>
        <p:spPr>
          <a:xfrm>
            <a:off x="457200" y="1645920"/>
            <a:ext cx="5486400" cy="4114800"/>
          </a:xfrm>
          <a:prstGeom prst="rect">
            <a:avLst/>
          </a:prstGeom>
          <a:noFill/>
        </p:spPr>
        <p:txBody>
          <a:bodyPr wrap="square">
            <a:spAutoFit/>
          </a:bodyPr>
          <a:lstStyle/>
          <a:p>
            <a:r>
              <a:rPr sz="1700" b="1">
                <a:solidFill>
                  <a:srgbClr val="1A235E"/>
                </a:solidFill>
              </a:rPr>
              <a:t>Ce qu'on montre</a:t>
            </a:r>
          </a:p>
          <a:p>
            <a:pPr>
              <a:spcBef>
                <a:spcPts val="400"/>
              </a:spcBef>
            </a:pPr>
            <a:r>
              <a:rPr sz="1500">
                <a:solidFill>
                  <a:srgbClr val="444444"/>
                </a:solidFill>
              </a:rPr>
              <a:t>▸  Connexion Admin → tableau de bord principal</a:t>
            </a:r>
          </a:p>
          <a:p>
            <a:pPr>
              <a:spcBef>
                <a:spcPts val="400"/>
              </a:spcBef>
            </a:pPr>
            <a:r>
              <a:rPr sz="1500">
                <a:solidFill>
                  <a:srgbClr val="444444"/>
                </a:solidFill>
              </a:rPr>
              <a:t>▸  Chiffre d'affaires : jour / semaine / mois</a:t>
            </a:r>
          </a:p>
          <a:p>
            <a:pPr>
              <a:spcBef>
                <a:spcPts val="400"/>
              </a:spcBef>
            </a:pPr>
            <a:r>
              <a:rPr sz="1500">
                <a:solidFill>
                  <a:srgbClr val="444444"/>
                </a:solidFill>
              </a:rPr>
              <a:t>▸  Graphiques des tendances de ventes</a:t>
            </a:r>
          </a:p>
          <a:p>
            <a:pPr>
              <a:spcBef>
                <a:spcPts val="400"/>
              </a:spcBef>
            </a:pPr>
            <a:r>
              <a:rPr sz="1500">
                <a:solidFill>
                  <a:srgbClr val="444444"/>
                </a:solidFill>
              </a:rPr>
              <a:t>▸  Top 5 produits les plus vendus</a:t>
            </a:r>
          </a:p>
          <a:p>
            <a:pPr>
              <a:spcBef>
                <a:spcPts val="400"/>
              </a:spcBef>
            </a:pPr>
            <a:r>
              <a:rPr sz="1500">
                <a:solidFill>
                  <a:srgbClr val="444444"/>
                </a:solidFill>
              </a:rPr>
              <a:t>▸  Journal d'audit : toutes les actions tracées</a:t>
            </a:r>
          </a:p>
        </p:txBody>
      </p:sp>
      <p:sp>
        <p:nvSpPr>
          <p:cNvPr id="8" name="Rectangle 7"/>
          <p:cNvSpPr/>
          <p:nvPr/>
        </p:nvSpPr>
        <p:spPr>
          <a:xfrm>
            <a:off x="6400800" y="1645920"/>
            <a:ext cx="5303520" cy="4114800"/>
          </a:xfrm>
          <a:prstGeom prst="rect">
            <a:avLst/>
          </a:prstGeom>
          <a:solidFill>
            <a:srgbClr val="F2F4F7"/>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37360"/>
            <a:ext cx="4937760" cy="502920"/>
          </a:xfrm>
          <a:prstGeom prst="rect">
            <a:avLst/>
          </a:prstGeom>
          <a:noFill/>
        </p:spPr>
        <p:txBody>
          <a:bodyPr wrap="square">
            <a:spAutoFit/>
          </a:bodyPr>
          <a:lstStyle/>
          <a:p>
            <a:pPr algn="l"/>
            <a:r>
              <a:rPr sz="1400" b="1" i="0">
                <a:solidFill>
                  <a:srgbClr val="E67E22"/>
                </a:solidFill>
              </a:rPr>
              <a:t>⚡  Alertes Stock Automatiques</a:t>
            </a:r>
          </a:p>
        </p:txBody>
      </p:sp>
      <p:sp>
        <p:nvSpPr>
          <p:cNvPr id="10" name="TextBox 9"/>
          <p:cNvSpPr txBox="1"/>
          <p:nvPr/>
        </p:nvSpPr>
        <p:spPr>
          <a:xfrm>
            <a:off x="6583680" y="2331720"/>
            <a:ext cx="4937760" cy="3291840"/>
          </a:xfrm>
          <a:prstGeom prst="rect">
            <a:avLst/>
          </a:prstGeom>
          <a:noFill/>
        </p:spPr>
        <p:txBody>
          <a:bodyPr wrap="square">
            <a:spAutoFit/>
          </a:bodyPr>
          <a:lstStyle/>
          <a:p>
            <a:pPr>
              <a:spcBef>
                <a:spcPts val="400"/>
              </a:spcBef>
            </a:pPr>
            <a:r>
              <a:rPr sz="1300">
                <a:solidFill>
                  <a:srgbClr val="444444"/>
                </a:solidFill>
              </a:rPr>
              <a:t>▸  Trigger PostgreSQL déclenché à chaque commande</a:t>
            </a:r>
          </a:p>
          <a:p>
            <a:pPr>
              <a:spcBef>
                <a:spcPts val="400"/>
              </a:spcBef>
            </a:pPr>
            <a:r>
              <a:rPr sz="1300">
                <a:solidFill>
                  <a:srgbClr val="444444"/>
                </a:solidFill>
              </a:rPr>
              <a:t>▸  Si stock &lt; seuil → INSERT dans stock_alerts</a:t>
            </a:r>
          </a:p>
          <a:p>
            <a:pPr>
              <a:spcBef>
                <a:spcPts val="400"/>
              </a:spcBef>
            </a:pPr>
            <a:r>
              <a:rPr sz="1300">
                <a:solidFill>
                  <a:srgbClr val="444444"/>
                </a:solidFill>
              </a:rPr>
              <a:t>▸  Notification WebSocket instantanée vers Admin</a:t>
            </a:r>
          </a:p>
          <a:p>
            <a:pPr>
              <a:spcBef>
                <a:spcPts val="400"/>
              </a:spcBef>
            </a:pPr>
            <a:r>
              <a:rPr sz="1300">
                <a:solidFill>
                  <a:srgbClr val="444444"/>
                </a:solidFill>
              </a:rPr>
              <a:t>▸  Badge rouge sur le dashboard</a:t>
            </a:r>
          </a:p>
          <a:p>
            <a:pPr>
              <a:spcBef>
                <a:spcPts val="400"/>
              </a:spcBef>
            </a:pPr>
            <a:r>
              <a:rPr sz="1300">
                <a:solidFill>
                  <a:srgbClr val="444444"/>
                </a:solidFill>
              </a:rPr>
              <a:t>▸  Aucun code applicatif — garanti par la BD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Démo 2 — Commande en Temps Réel</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Communication WebSocket STOMP entre Serveur et Cuisinier</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9 / 15</a:t>
            </a:r>
          </a:p>
        </p:txBody>
      </p:sp>
      <p:sp>
        <p:nvSpPr>
          <p:cNvPr id="7" name="Rectangle 6"/>
          <p:cNvSpPr/>
          <p:nvPr/>
        </p:nvSpPr>
        <p:spPr>
          <a:xfrm>
            <a:off x="365760" y="1691640"/>
            <a:ext cx="2651760" cy="420624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2468880" cy="502920"/>
          </a:xfrm>
          <a:prstGeom prst="rect">
            <a:avLst/>
          </a:prstGeom>
          <a:noFill/>
        </p:spPr>
        <p:txBody>
          <a:bodyPr wrap="square">
            <a:spAutoFit/>
          </a:bodyPr>
          <a:lstStyle/>
          <a:p>
            <a:pPr algn="ctr"/>
            <a:r>
              <a:rPr sz="1400" b="1" i="0">
                <a:solidFill>
                  <a:srgbClr val="FFFFFF"/>
                </a:solidFill>
              </a:rPr>
              <a:t>1  SERVEUR</a:t>
            </a:r>
          </a:p>
        </p:txBody>
      </p:sp>
      <p:sp>
        <p:nvSpPr>
          <p:cNvPr id="9" name="TextBox 8"/>
          <p:cNvSpPr txBox="1"/>
          <p:nvPr/>
        </p:nvSpPr>
        <p:spPr>
          <a:xfrm>
            <a:off x="457200" y="2377440"/>
            <a:ext cx="2468880" cy="3200400"/>
          </a:xfrm>
          <a:prstGeom prst="rect">
            <a:avLst/>
          </a:prstGeom>
          <a:noFill/>
        </p:spPr>
        <p:txBody>
          <a:bodyPr wrap="square">
            <a:spAutoFit/>
          </a:bodyPr>
          <a:lstStyle/>
          <a:p>
            <a:pPr algn="ctr"/>
            <a:r>
              <a:rPr sz="1300" b="0" i="0">
                <a:solidFill>
                  <a:srgbClr val="F2F4F7"/>
                </a:solidFill>
              </a:rPr>
              <a:t>Sélectionne table 3
Ajoute 2x Burger + 1x Frites</a:t>
            </a:r>
          </a:p>
        </p:txBody>
      </p:sp>
      <p:sp>
        <p:nvSpPr>
          <p:cNvPr id="10" name="TextBox 9"/>
          <p:cNvSpPr txBox="1"/>
          <p:nvPr/>
        </p:nvSpPr>
        <p:spPr>
          <a:xfrm>
            <a:off x="2880360" y="3108960"/>
            <a:ext cx="274320" cy="457200"/>
          </a:xfrm>
          <a:prstGeom prst="rect">
            <a:avLst/>
          </a:prstGeom>
          <a:noFill/>
        </p:spPr>
        <p:txBody>
          <a:bodyPr wrap="square">
            <a:spAutoFit/>
          </a:bodyPr>
          <a:lstStyle/>
          <a:p>
            <a:pPr algn="ctr"/>
            <a:r>
              <a:rPr sz="2800" b="1" i="0">
                <a:solidFill>
                  <a:srgbClr val="888888"/>
                </a:solidFill>
              </a:rPr>
              <a:t>→</a:t>
            </a:r>
          </a:p>
        </p:txBody>
      </p:sp>
      <p:sp>
        <p:nvSpPr>
          <p:cNvPr id="11" name="Rectangle 10"/>
          <p:cNvSpPr/>
          <p:nvPr/>
        </p:nvSpPr>
        <p:spPr>
          <a:xfrm>
            <a:off x="3291840" y="1691640"/>
            <a:ext cx="2651760" cy="42062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783080"/>
            <a:ext cx="2468880" cy="502920"/>
          </a:xfrm>
          <a:prstGeom prst="rect">
            <a:avLst/>
          </a:prstGeom>
          <a:noFill/>
        </p:spPr>
        <p:txBody>
          <a:bodyPr wrap="square">
            <a:spAutoFit/>
          </a:bodyPr>
          <a:lstStyle/>
          <a:p>
            <a:pPr algn="ctr"/>
            <a:r>
              <a:rPr sz="1400" b="1" i="0">
                <a:solidFill>
                  <a:srgbClr val="FFFFFF"/>
                </a:solidFill>
              </a:rPr>
              <a:t>2  BACKEND</a:t>
            </a:r>
          </a:p>
        </p:txBody>
      </p:sp>
      <p:sp>
        <p:nvSpPr>
          <p:cNvPr id="13" name="TextBox 12"/>
          <p:cNvSpPr txBox="1"/>
          <p:nvPr/>
        </p:nvSpPr>
        <p:spPr>
          <a:xfrm>
            <a:off x="3383280" y="2377440"/>
            <a:ext cx="2468880" cy="3200400"/>
          </a:xfrm>
          <a:prstGeom prst="rect">
            <a:avLst/>
          </a:prstGeom>
          <a:noFill/>
        </p:spPr>
        <p:txBody>
          <a:bodyPr wrap="square">
            <a:spAutoFit/>
          </a:bodyPr>
          <a:lstStyle/>
          <a:p>
            <a:pPr algn="ctr"/>
            <a:r>
              <a:rPr sz="1300" b="0" i="0">
                <a:solidFill>
                  <a:srgbClr val="F2F4F7"/>
                </a:solidFill>
              </a:rPr>
              <a:t>POST /api/orders
INSERT orders + order_items
trigger_update_stock</a:t>
            </a:r>
          </a:p>
        </p:txBody>
      </p:sp>
      <p:sp>
        <p:nvSpPr>
          <p:cNvPr id="14" name="TextBox 13"/>
          <p:cNvSpPr txBox="1"/>
          <p:nvPr/>
        </p:nvSpPr>
        <p:spPr>
          <a:xfrm>
            <a:off x="5806440" y="3108960"/>
            <a:ext cx="274320" cy="457200"/>
          </a:xfrm>
          <a:prstGeom prst="rect">
            <a:avLst/>
          </a:prstGeom>
          <a:noFill/>
        </p:spPr>
        <p:txBody>
          <a:bodyPr wrap="square">
            <a:spAutoFit/>
          </a:bodyPr>
          <a:lstStyle/>
          <a:p>
            <a:pPr algn="ctr"/>
            <a:r>
              <a:rPr sz="2800" b="1" i="0">
                <a:solidFill>
                  <a:srgbClr val="888888"/>
                </a:solidFill>
              </a:rPr>
              <a:t>→</a:t>
            </a:r>
          </a:p>
        </p:txBody>
      </p:sp>
      <p:sp>
        <p:nvSpPr>
          <p:cNvPr id="15" name="Rectangle 14"/>
          <p:cNvSpPr/>
          <p:nvPr/>
        </p:nvSpPr>
        <p:spPr>
          <a:xfrm>
            <a:off x="6217920" y="1691640"/>
            <a:ext cx="2651760" cy="4206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783080"/>
            <a:ext cx="2468880" cy="502920"/>
          </a:xfrm>
          <a:prstGeom prst="rect">
            <a:avLst/>
          </a:prstGeom>
          <a:noFill/>
        </p:spPr>
        <p:txBody>
          <a:bodyPr wrap="square">
            <a:spAutoFit/>
          </a:bodyPr>
          <a:lstStyle/>
          <a:p>
            <a:pPr algn="ctr"/>
            <a:r>
              <a:rPr sz="1400" b="1" i="0">
                <a:solidFill>
                  <a:srgbClr val="FFFFFF"/>
                </a:solidFill>
              </a:rPr>
              <a:t>3  WEBSOCKET</a:t>
            </a:r>
          </a:p>
        </p:txBody>
      </p:sp>
      <p:sp>
        <p:nvSpPr>
          <p:cNvPr id="17" name="TextBox 16"/>
          <p:cNvSpPr txBox="1"/>
          <p:nvPr/>
        </p:nvSpPr>
        <p:spPr>
          <a:xfrm>
            <a:off x="6309360" y="2377440"/>
            <a:ext cx="2468880" cy="3200400"/>
          </a:xfrm>
          <a:prstGeom prst="rect">
            <a:avLst/>
          </a:prstGeom>
          <a:noFill/>
        </p:spPr>
        <p:txBody>
          <a:bodyPr wrap="square">
            <a:spAutoFit/>
          </a:bodyPr>
          <a:lstStyle/>
          <a:p>
            <a:pPr algn="ctr"/>
            <a:r>
              <a:rPr sz="1300" b="0" i="0">
                <a:solidFill>
                  <a:srgbClr val="F2F4F7"/>
                </a:solidFill>
              </a:rPr>
              <a:t>/topic/orders
Message diffusé au rôle COOK</a:t>
            </a:r>
          </a:p>
        </p:txBody>
      </p:sp>
      <p:sp>
        <p:nvSpPr>
          <p:cNvPr id="18" name="TextBox 17"/>
          <p:cNvSpPr txBox="1"/>
          <p:nvPr/>
        </p:nvSpPr>
        <p:spPr>
          <a:xfrm>
            <a:off x="8732520" y="3108960"/>
            <a:ext cx="274320" cy="457200"/>
          </a:xfrm>
          <a:prstGeom prst="rect">
            <a:avLst/>
          </a:prstGeom>
          <a:noFill/>
        </p:spPr>
        <p:txBody>
          <a:bodyPr wrap="square">
            <a:spAutoFit/>
          </a:bodyPr>
          <a:lstStyle/>
          <a:p>
            <a:pPr algn="ctr"/>
            <a:r>
              <a:rPr sz="2800" b="1" i="0">
                <a:solidFill>
                  <a:srgbClr val="888888"/>
                </a:solidFill>
              </a:rPr>
              <a:t>→</a:t>
            </a:r>
          </a:p>
        </p:txBody>
      </p:sp>
      <p:sp>
        <p:nvSpPr>
          <p:cNvPr id="19" name="Rectangle 18"/>
          <p:cNvSpPr/>
          <p:nvPr/>
        </p:nvSpPr>
        <p:spPr>
          <a:xfrm>
            <a:off x="9144000" y="1691640"/>
            <a:ext cx="2651760" cy="4206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783080"/>
            <a:ext cx="2468880" cy="502920"/>
          </a:xfrm>
          <a:prstGeom prst="rect">
            <a:avLst/>
          </a:prstGeom>
          <a:noFill/>
        </p:spPr>
        <p:txBody>
          <a:bodyPr wrap="square">
            <a:spAutoFit/>
          </a:bodyPr>
          <a:lstStyle/>
          <a:p>
            <a:pPr algn="ctr"/>
            <a:r>
              <a:rPr sz="1400" b="1" i="0">
                <a:solidFill>
                  <a:srgbClr val="FFFFFF"/>
                </a:solidFill>
              </a:rPr>
              <a:t>4  CUISINIER</a:t>
            </a:r>
          </a:p>
        </p:txBody>
      </p:sp>
      <p:sp>
        <p:nvSpPr>
          <p:cNvPr id="21" name="TextBox 20"/>
          <p:cNvSpPr txBox="1"/>
          <p:nvPr/>
        </p:nvSpPr>
        <p:spPr>
          <a:xfrm>
            <a:off x="9235440" y="2377440"/>
            <a:ext cx="2468880" cy="3200400"/>
          </a:xfrm>
          <a:prstGeom prst="rect">
            <a:avLst/>
          </a:prstGeom>
          <a:noFill/>
        </p:spPr>
        <p:txBody>
          <a:bodyPr wrap="square">
            <a:spAutoFit/>
          </a:bodyPr>
          <a:lstStyle/>
          <a:p>
            <a:pPr algn="ctr"/>
            <a:r>
              <a:rPr sz="1300" b="0" i="0">
                <a:solidFill>
                  <a:srgbClr val="F2F4F7"/>
                </a:solidFill>
              </a:rPr>
              <a:t>Notification reçue
&lt; 100ms après la validation</a:t>
            </a:r>
          </a:p>
        </p:txBody>
      </p:sp>
      <p:sp>
        <p:nvSpPr>
          <p:cNvPr id="22" name="Rectangle 21"/>
          <p:cNvSpPr/>
          <p:nvPr/>
        </p:nvSpPr>
        <p:spPr>
          <a:xfrm>
            <a:off x="365760" y="5989320"/>
            <a:ext cx="11457432" cy="5486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016752"/>
            <a:ext cx="11274552" cy="457200"/>
          </a:xfrm>
          <a:prstGeom prst="rect">
            <a:avLst/>
          </a:prstGeom>
          <a:noFill/>
        </p:spPr>
        <p:txBody>
          <a:bodyPr wrap="square">
            <a:spAutoFit/>
          </a:bodyPr>
          <a:lstStyle/>
          <a:p>
            <a:pPr algn="ctr"/>
            <a:r>
              <a:rPr sz="1300" b="1" i="0">
                <a:solidFill>
                  <a:srgbClr val="1A235E"/>
                </a:solidFill>
              </a:rPr>
              <a:t>💡  Ouvrez 2 onglets : Serveur + Cuisinier — la notification arrive en moins de 100ms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Démo 3 — Paiement Stripe &amp; Ticket PDF</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Encaissement sécurisé + justificatif PDF généré côté client</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10 / 15</a:t>
            </a:r>
          </a:p>
        </p:txBody>
      </p:sp>
      <p:sp>
        <p:nvSpPr>
          <p:cNvPr id="7" name="Rectangle 6"/>
          <p:cNvSpPr/>
          <p:nvPr/>
        </p:nvSpPr>
        <p:spPr>
          <a:xfrm>
            <a:off x="365760" y="1691640"/>
            <a:ext cx="2651760" cy="32004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2468880" cy="457200"/>
          </a:xfrm>
          <a:prstGeom prst="rect">
            <a:avLst/>
          </a:prstGeom>
          <a:noFill/>
        </p:spPr>
        <p:txBody>
          <a:bodyPr wrap="square">
            <a:spAutoFit/>
          </a:bodyPr>
          <a:lstStyle/>
          <a:p>
            <a:pPr algn="ctr"/>
            <a:r>
              <a:rPr sz="1400" b="1" i="0">
                <a:solidFill>
                  <a:srgbClr val="FFFFFF"/>
                </a:solidFill>
              </a:rPr>
              <a:t>Caissier</a:t>
            </a:r>
          </a:p>
        </p:txBody>
      </p:sp>
      <p:sp>
        <p:nvSpPr>
          <p:cNvPr id="9" name="TextBox 8"/>
          <p:cNvSpPr txBox="1"/>
          <p:nvPr/>
        </p:nvSpPr>
        <p:spPr>
          <a:xfrm>
            <a:off x="457200" y="2331720"/>
            <a:ext cx="2468880" cy="2377440"/>
          </a:xfrm>
          <a:prstGeom prst="rect">
            <a:avLst/>
          </a:prstGeom>
          <a:noFill/>
        </p:spPr>
        <p:txBody>
          <a:bodyPr wrap="square">
            <a:spAutoFit/>
          </a:bodyPr>
          <a:lstStyle/>
          <a:p>
            <a:pPr algn="ctr"/>
            <a:r>
              <a:rPr sz="1300" b="0" i="0">
                <a:solidFill>
                  <a:srgbClr val="F2F4F7"/>
                </a:solidFill>
              </a:rPr>
              <a:t>Sélectionne la commande
choisit méthode STRIPE</a:t>
            </a:r>
          </a:p>
        </p:txBody>
      </p:sp>
      <p:sp>
        <p:nvSpPr>
          <p:cNvPr id="10" name="TextBox 9"/>
          <p:cNvSpPr txBox="1"/>
          <p:nvPr/>
        </p:nvSpPr>
        <p:spPr>
          <a:xfrm>
            <a:off x="2880360" y="2926080"/>
            <a:ext cx="274320" cy="457200"/>
          </a:xfrm>
          <a:prstGeom prst="rect">
            <a:avLst/>
          </a:prstGeom>
          <a:noFill/>
        </p:spPr>
        <p:txBody>
          <a:bodyPr wrap="square">
            <a:spAutoFit/>
          </a:bodyPr>
          <a:lstStyle/>
          <a:p>
            <a:pPr algn="ctr"/>
            <a:r>
              <a:rPr sz="2800" b="1" i="0">
                <a:solidFill>
                  <a:srgbClr val="888888"/>
                </a:solidFill>
              </a:rPr>
              <a:t>→</a:t>
            </a:r>
          </a:p>
        </p:txBody>
      </p:sp>
      <p:sp>
        <p:nvSpPr>
          <p:cNvPr id="11" name="Rectangle 10"/>
          <p:cNvSpPr/>
          <p:nvPr/>
        </p:nvSpPr>
        <p:spPr>
          <a:xfrm>
            <a:off x="3291840" y="1691640"/>
            <a:ext cx="2651760" cy="32004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783080"/>
            <a:ext cx="2468880" cy="457200"/>
          </a:xfrm>
          <a:prstGeom prst="rect">
            <a:avLst/>
          </a:prstGeom>
          <a:noFill/>
        </p:spPr>
        <p:txBody>
          <a:bodyPr wrap="square">
            <a:spAutoFit/>
          </a:bodyPr>
          <a:lstStyle/>
          <a:p>
            <a:pPr algn="ctr"/>
            <a:r>
              <a:rPr sz="1400" b="1" i="0">
                <a:solidFill>
                  <a:srgbClr val="FFFFFF"/>
                </a:solidFill>
              </a:rPr>
              <a:t>Frontend</a:t>
            </a:r>
          </a:p>
        </p:txBody>
      </p:sp>
      <p:sp>
        <p:nvSpPr>
          <p:cNvPr id="13" name="TextBox 12"/>
          <p:cNvSpPr txBox="1"/>
          <p:nvPr/>
        </p:nvSpPr>
        <p:spPr>
          <a:xfrm>
            <a:off x="3383280" y="2331720"/>
            <a:ext cx="2468880" cy="2377440"/>
          </a:xfrm>
          <a:prstGeom prst="rect">
            <a:avLst/>
          </a:prstGeom>
          <a:noFill/>
        </p:spPr>
        <p:txBody>
          <a:bodyPr wrap="square">
            <a:spAutoFit/>
          </a:bodyPr>
          <a:lstStyle/>
          <a:p>
            <a:pPr algn="ctr"/>
            <a:r>
              <a:rPr sz="1300" b="0" i="0">
                <a:solidFill>
                  <a:srgbClr val="F2F4F7"/>
                </a:solidFill>
              </a:rPr>
              <a:t>Crée un PaymentIntent
via /api/payments/stripe</a:t>
            </a:r>
          </a:p>
        </p:txBody>
      </p:sp>
      <p:sp>
        <p:nvSpPr>
          <p:cNvPr id="14" name="TextBox 13"/>
          <p:cNvSpPr txBox="1"/>
          <p:nvPr/>
        </p:nvSpPr>
        <p:spPr>
          <a:xfrm>
            <a:off x="5806440" y="2926080"/>
            <a:ext cx="274320" cy="457200"/>
          </a:xfrm>
          <a:prstGeom prst="rect">
            <a:avLst/>
          </a:prstGeom>
          <a:noFill/>
        </p:spPr>
        <p:txBody>
          <a:bodyPr wrap="square">
            <a:spAutoFit/>
          </a:bodyPr>
          <a:lstStyle/>
          <a:p>
            <a:pPr algn="ctr"/>
            <a:r>
              <a:rPr sz="2800" b="1" i="0">
                <a:solidFill>
                  <a:srgbClr val="888888"/>
                </a:solidFill>
              </a:rPr>
              <a:t>→</a:t>
            </a:r>
          </a:p>
        </p:txBody>
      </p:sp>
      <p:sp>
        <p:nvSpPr>
          <p:cNvPr id="15" name="Rectangle 14"/>
          <p:cNvSpPr/>
          <p:nvPr/>
        </p:nvSpPr>
        <p:spPr>
          <a:xfrm>
            <a:off x="6217920" y="1691640"/>
            <a:ext cx="2651760" cy="32004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783080"/>
            <a:ext cx="2468880" cy="457200"/>
          </a:xfrm>
          <a:prstGeom prst="rect">
            <a:avLst/>
          </a:prstGeom>
          <a:noFill/>
        </p:spPr>
        <p:txBody>
          <a:bodyPr wrap="square">
            <a:spAutoFit/>
          </a:bodyPr>
          <a:lstStyle/>
          <a:p>
            <a:pPr algn="ctr"/>
            <a:r>
              <a:rPr sz="1400" b="1" i="0">
                <a:solidFill>
                  <a:srgbClr val="FFFFFF"/>
                </a:solidFill>
              </a:rPr>
              <a:t>Stripe</a:t>
            </a:r>
          </a:p>
        </p:txBody>
      </p:sp>
      <p:sp>
        <p:nvSpPr>
          <p:cNvPr id="17" name="TextBox 16"/>
          <p:cNvSpPr txBox="1"/>
          <p:nvPr/>
        </p:nvSpPr>
        <p:spPr>
          <a:xfrm>
            <a:off x="6309360" y="2331720"/>
            <a:ext cx="2468880" cy="2377440"/>
          </a:xfrm>
          <a:prstGeom prst="rect">
            <a:avLst/>
          </a:prstGeom>
          <a:noFill/>
        </p:spPr>
        <p:txBody>
          <a:bodyPr wrap="square">
            <a:spAutoFit/>
          </a:bodyPr>
          <a:lstStyle/>
          <a:p>
            <a:pPr algn="ctr"/>
            <a:r>
              <a:rPr sz="1300" b="0" i="0">
                <a:solidFill>
                  <a:srgbClr val="F2F4F7"/>
                </a:solidFill>
              </a:rPr>
              <a:t>stripe.confirmCardPayment()
Carte test : 4242 4242 4242 4242</a:t>
            </a:r>
          </a:p>
        </p:txBody>
      </p:sp>
      <p:sp>
        <p:nvSpPr>
          <p:cNvPr id="18" name="TextBox 17"/>
          <p:cNvSpPr txBox="1"/>
          <p:nvPr/>
        </p:nvSpPr>
        <p:spPr>
          <a:xfrm>
            <a:off x="8732520" y="2926080"/>
            <a:ext cx="274320" cy="457200"/>
          </a:xfrm>
          <a:prstGeom prst="rect">
            <a:avLst/>
          </a:prstGeom>
          <a:noFill/>
        </p:spPr>
        <p:txBody>
          <a:bodyPr wrap="square">
            <a:spAutoFit/>
          </a:bodyPr>
          <a:lstStyle/>
          <a:p>
            <a:pPr algn="ctr"/>
            <a:r>
              <a:rPr sz="2800" b="1" i="0">
                <a:solidFill>
                  <a:srgbClr val="888888"/>
                </a:solidFill>
              </a:rPr>
              <a:t>→</a:t>
            </a:r>
          </a:p>
        </p:txBody>
      </p:sp>
      <p:sp>
        <p:nvSpPr>
          <p:cNvPr id="19" name="Rectangle 18"/>
          <p:cNvSpPr/>
          <p:nvPr/>
        </p:nvSpPr>
        <p:spPr>
          <a:xfrm>
            <a:off x="9144000" y="1691640"/>
            <a:ext cx="2651760" cy="3200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783080"/>
            <a:ext cx="2468880" cy="457200"/>
          </a:xfrm>
          <a:prstGeom prst="rect">
            <a:avLst/>
          </a:prstGeom>
          <a:noFill/>
        </p:spPr>
        <p:txBody>
          <a:bodyPr wrap="square">
            <a:spAutoFit/>
          </a:bodyPr>
          <a:lstStyle/>
          <a:p>
            <a:pPr algn="ctr"/>
            <a:r>
              <a:rPr sz="1400" b="1" i="0">
                <a:solidFill>
                  <a:srgbClr val="FFFFFF"/>
                </a:solidFill>
              </a:rPr>
              <a:t>Backend</a:t>
            </a:r>
          </a:p>
        </p:txBody>
      </p:sp>
      <p:sp>
        <p:nvSpPr>
          <p:cNvPr id="21" name="TextBox 20"/>
          <p:cNvSpPr txBox="1"/>
          <p:nvPr/>
        </p:nvSpPr>
        <p:spPr>
          <a:xfrm>
            <a:off x="9235440" y="2331720"/>
            <a:ext cx="2468880" cy="2377440"/>
          </a:xfrm>
          <a:prstGeom prst="rect">
            <a:avLst/>
          </a:prstGeom>
          <a:noFill/>
        </p:spPr>
        <p:txBody>
          <a:bodyPr wrap="square">
            <a:spAutoFit/>
          </a:bodyPr>
          <a:lstStyle/>
          <a:p>
            <a:pPr algn="ctr"/>
            <a:r>
              <a:rPr sz="1300" b="0" i="0">
                <a:solidFill>
                  <a:srgbClr val="F2F4F7"/>
                </a:solidFill>
              </a:rPr>
              <a:t>status = CLOSED
INSERT transaction
jsPDF → ticket PDF</a:t>
            </a:r>
          </a:p>
        </p:txBody>
      </p:sp>
      <p:sp>
        <p:nvSpPr>
          <p:cNvPr id="22" name="Rectangle 21"/>
          <p:cNvSpPr/>
          <p:nvPr/>
        </p:nvSpPr>
        <p:spPr>
          <a:xfrm>
            <a:off x="365760" y="5074920"/>
            <a:ext cx="5577840" cy="14630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166360"/>
            <a:ext cx="5212080" cy="411480"/>
          </a:xfrm>
          <a:prstGeom prst="rect">
            <a:avLst/>
          </a:prstGeom>
          <a:noFill/>
        </p:spPr>
        <p:txBody>
          <a:bodyPr wrap="square">
            <a:spAutoFit/>
          </a:bodyPr>
          <a:lstStyle/>
          <a:p>
            <a:pPr algn="l"/>
            <a:r>
              <a:rPr sz="1300" b="1" i="0">
                <a:solidFill>
                  <a:srgbClr val="1A235E"/>
                </a:solidFill>
              </a:rPr>
              <a:t>🔒  Sécurité Stripe</a:t>
            </a:r>
          </a:p>
        </p:txBody>
      </p:sp>
      <p:sp>
        <p:nvSpPr>
          <p:cNvPr id="24" name="TextBox 23"/>
          <p:cNvSpPr txBox="1"/>
          <p:nvPr/>
        </p:nvSpPr>
        <p:spPr>
          <a:xfrm>
            <a:off x="548640" y="5623560"/>
            <a:ext cx="5212080" cy="777240"/>
          </a:xfrm>
          <a:prstGeom prst="rect">
            <a:avLst/>
          </a:prstGeom>
          <a:noFill/>
        </p:spPr>
        <p:txBody>
          <a:bodyPr wrap="square">
            <a:spAutoFit/>
          </a:bodyPr>
          <a:lstStyle/>
          <a:p>
            <a:pPr algn="l"/>
            <a:r>
              <a:rPr sz="1200" b="0" i="0">
                <a:solidFill>
                  <a:srgbClr val="444444"/>
                </a:solidFill>
              </a:rPr>
              <a:t>Les données bancaires ne transitent JAMAIS par notre serveur.
Stripe tokenise directement — conformité PCI DSS garantie.</a:t>
            </a:r>
          </a:p>
        </p:txBody>
      </p:sp>
      <p:sp>
        <p:nvSpPr>
          <p:cNvPr id="25" name="Rectangle 24"/>
          <p:cNvSpPr/>
          <p:nvPr/>
        </p:nvSpPr>
        <p:spPr>
          <a:xfrm>
            <a:off x="6217920" y="5074920"/>
            <a:ext cx="5577840" cy="14630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5166360"/>
            <a:ext cx="5212080" cy="411480"/>
          </a:xfrm>
          <a:prstGeom prst="rect">
            <a:avLst/>
          </a:prstGeom>
          <a:noFill/>
        </p:spPr>
        <p:txBody>
          <a:bodyPr wrap="square">
            <a:spAutoFit/>
          </a:bodyPr>
          <a:lstStyle/>
          <a:p>
            <a:pPr algn="l"/>
            <a:r>
              <a:rPr sz="1300" b="1" i="0">
                <a:solidFill>
                  <a:srgbClr val="1A235E"/>
                </a:solidFill>
              </a:rPr>
              <a:t>📄  Ticket PDF (jsPDF)</a:t>
            </a:r>
          </a:p>
        </p:txBody>
      </p:sp>
      <p:sp>
        <p:nvSpPr>
          <p:cNvPr id="27" name="TextBox 26"/>
          <p:cNvSpPr txBox="1"/>
          <p:nvPr/>
        </p:nvSpPr>
        <p:spPr>
          <a:xfrm>
            <a:off x="6400800" y="5623560"/>
            <a:ext cx="5212080" cy="777240"/>
          </a:xfrm>
          <a:prstGeom prst="rect">
            <a:avLst/>
          </a:prstGeom>
          <a:noFill/>
        </p:spPr>
        <p:txBody>
          <a:bodyPr wrap="square">
            <a:spAutoFit/>
          </a:bodyPr>
          <a:lstStyle/>
          <a:p>
            <a:pPr algn="l"/>
            <a:r>
              <a:rPr sz="1200" b="0" i="0">
                <a:solidFill>
                  <a:srgbClr val="444444"/>
                </a:solidFill>
              </a:rPr>
              <a:t>Généré entièrement côté navigateur React.
Contient : date, articles, total, méthode de paiement.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35E"/>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Démo 4 — Chatbot Vocal Intelligent</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Web Speech API  →  Groq LLaMA 3.1  →  ElevenLabs TTS</a:t>
            </a:r>
          </a:p>
        </p:txBody>
      </p:sp>
      <p:sp>
        <p:nvSpPr>
          <p:cNvPr id="5" name="Rectangle 4"/>
          <p:cNvSpPr/>
          <p:nvPr/>
        </p:nvSpPr>
        <p:spPr>
          <a:xfrm>
            <a:off x="0" y="6793992"/>
            <a:ext cx="12188952"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11 / 15</a:t>
            </a:r>
          </a:p>
        </p:txBody>
      </p:sp>
      <p:sp>
        <p:nvSpPr>
          <p:cNvPr id="7" name="Rectangle 6"/>
          <p:cNvSpPr/>
          <p:nvPr/>
        </p:nvSpPr>
        <p:spPr>
          <a:xfrm>
            <a:off x="457200" y="1737360"/>
            <a:ext cx="2560320" cy="347472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2377440" cy="502920"/>
          </a:xfrm>
          <a:prstGeom prst="rect">
            <a:avLst/>
          </a:prstGeom>
          <a:noFill/>
        </p:spPr>
        <p:txBody>
          <a:bodyPr wrap="square">
            <a:spAutoFit/>
          </a:bodyPr>
          <a:lstStyle/>
          <a:p>
            <a:pPr algn="ctr"/>
            <a:r>
              <a:rPr sz="1600" b="1" i="0">
                <a:solidFill>
                  <a:srgbClr val="FFFFFF"/>
                </a:solidFill>
              </a:rPr>
              <a:t>IDLE</a:t>
            </a:r>
          </a:p>
        </p:txBody>
      </p:sp>
      <p:sp>
        <p:nvSpPr>
          <p:cNvPr id="9" name="TextBox 8"/>
          <p:cNvSpPr txBox="1"/>
          <p:nvPr/>
        </p:nvSpPr>
        <p:spPr>
          <a:xfrm>
            <a:off x="548640" y="2423160"/>
            <a:ext cx="2377440" cy="2560320"/>
          </a:xfrm>
          <a:prstGeom prst="rect">
            <a:avLst/>
          </a:prstGeom>
          <a:noFill/>
        </p:spPr>
        <p:txBody>
          <a:bodyPr wrap="square">
            <a:spAutoFit/>
          </a:bodyPr>
          <a:lstStyle/>
          <a:p>
            <a:pPr algn="ctr"/>
            <a:r>
              <a:rPr sz="1300" b="0" i="0">
                <a:solidFill>
                  <a:srgbClr val="F2F4F7"/>
                </a:solidFill>
              </a:rPr>
              <a:t>Chatbot en attente</a:t>
            </a:r>
          </a:p>
        </p:txBody>
      </p:sp>
      <p:sp>
        <p:nvSpPr>
          <p:cNvPr id="10" name="TextBox 9"/>
          <p:cNvSpPr txBox="1"/>
          <p:nvPr/>
        </p:nvSpPr>
        <p:spPr>
          <a:xfrm>
            <a:off x="2834640" y="3108960"/>
            <a:ext cx="274320" cy="457200"/>
          </a:xfrm>
          <a:prstGeom prst="rect">
            <a:avLst/>
          </a:prstGeom>
          <a:noFill/>
        </p:spPr>
        <p:txBody>
          <a:bodyPr wrap="square">
            <a:spAutoFit/>
          </a:bodyPr>
          <a:lstStyle/>
          <a:p>
            <a:pPr algn="ctr"/>
            <a:r>
              <a:rPr sz="2800" b="1" i="0">
                <a:solidFill>
                  <a:srgbClr val="FFFFFF"/>
                </a:solidFill>
              </a:rPr>
              <a:t>→</a:t>
            </a:r>
          </a:p>
        </p:txBody>
      </p:sp>
      <p:sp>
        <p:nvSpPr>
          <p:cNvPr id="11" name="Rectangle 10"/>
          <p:cNvSpPr/>
          <p:nvPr/>
        </p:nvSpPr>
        <p:spPr>
          <a:xfrm>
            <a:off x="3337560" y="1737360"/>
            <a:ext cx="2560320" cy="347472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828800"/>
            <a:ext cx="2377440" cy="502920"/>
          </a:xfrm>
          <a:prstGeom prst="rect">
            <a:avLst/>
          </a:prstGeom>
          <a:noFill/>
        </p:spPr>
        <p:txBody>
          <a:bodyPr wrap="square">
            <a:spAutoFit/>
          </a:bodyPr>
          <a:lstStyle/>
          <a:p>
            <a:pPr algn="ctr"/>
            <a:r>
              <a:rPr sz="1600" b="1" i="0">
                <a:solidFill>
                  <a:srgbClr val="FFFFFF"/>
                </a:solidFill>
              </a:rPr>
              <a:t>LISTENING</a:t>
            </a:r>
          </a:p>
        </p:txBody>
      </p:sp>
      <p:sp>
        <p:nvSpPr>
          <p:cNvPr id="13" name="TextBox 12"/>
          <p:cNvSpPr txBox="1"/>
          <p:nvPr/>
        </p:nvSpPr>
        <p:spPr>
          <a:xfrm>
            <a:off x="3429000" y="2423160"/>
            <a:ext cx="2377440" cy="2560320"/>
          </a:xfrm>
          <a:prstGeom prst="rect">
            <a:avLst/>
          </a:prstGeom>
          <a:noFill/>
        </p:spPr>
        <p:txBody>
          <a:bodyPr wrap="square">
            <a:spAutoFit/>
          </a:bodyPr>
          <a:lstStyle/>
          <a:p>
            <a:pPr algn="ctr"/>
            <a:r>
              <a:rPr sz="1300" b="0" i="0">
                <a:solidFill>
                  <a:srgbClr val="F2F4F7"/>
                </a:solidFill>
              </a:rPr>
              <a:t>Micro actif
Web Speech API
lang: fr-FR</a:t>
            </a:r>
          </a:p>
        </p:txBody>
      </p:sp>
      <p:sp>
        <p:nvSpPr>
          <p:cNvPr id="14" name="TextBox 13"/>
          <p:cNvSpPr txBox="1"/>
          <p:nvPr/>
        </p:nvSpPr>
        <p:spPr>
          <a:xfrm>
            <a:off x="5715000" y="3108960"/>
            <a:ext cx="274320" cy="457200"/>
          </a:xfrm>
          <a:prstGeom prst="rect">
            <a:avLst/>
          </a:prstGeom>
          <a:noFill/>
        </p:spPr>
        <p:txBody>
          <a:bodyPr wrap="square">
            <a:spAutoFit/>
          </a:bodyPr>
          <a:lstStyle/>
          <a:p>
            <a:pPr algn="ctr"/>
            <a:r>
              <a:rPr sz="2800" b="1" i="0">
                <a:solidFill>
                  <a:srgbClr val="FFFFFF"/>
                </a:solidFill>
              </a:rPr>
              <a:t>→</a:t>
            </a:r>
          </a:p>
        </p:txBody>
      </p:sp>
      <p:sp>
        <p:nvSpPr>
          <p:cNvPr id="15" name="Rectangle 14"/>
          <p:cNvSpPr/>
          <p:nvPr/>
        </p:nvSpPr>
        <p:spPr>
          <a:xfrm>
            <a:off x="6217920" y="1737360"/>
            <a:ext cx="2560320" cy="34747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828800"/>
            <a:ext cx="2377440" cy="502920"/>
          </a:xfrm>
          <a:prstGeom prst="rect">
            <a:avLst/>
          </a:prstGeom>
          <a:noFill/>
        </p:spPr>
        <p:txBody>
          <a:bodyPr wrap="square">
            <a:spAutoFit/>
          </a:bodyPr>
          <a:lstStyle/>
          <a:p>
            <a:pPr algn="ctr"/>
            <a:r>
              <a:rPr sz="1600" b="1" i="0">
                <a:solidFill>
                  <a:srgbClr val="FFFFFF"/>
                </a:solidFill>
              </a:rPr>
              <a:t>PROCESSING</a:t>
            </a:r>
          </a:p>
        </p:txBody>
      </p:sp>
      <p:sp>
        <p:nvSpPr>
          <p:cNvPr id="17" name="TextBox 16"/>
          <p:cNvSpPr txBox="1"/>
          <p:nvPr/>
        </p:nvSpPr>
        <p:spPr>
          <a:xfrm>
            <a:off x="6309360" y="2423160"/>
            <a:ext cx="2377440" cy="2560320"/>
          </a:xfrm>
          <a:prstGeom prst="rect">
            <a:avLst/>
          </a:prstGeom>
          <a:noFill/>
        </p:spPr>
        <p:txBody>
          <a:bodyPr wrap="square">
            <a:spAutoFit/>
          </a:bodyPr>
          <a:lstStyle/>
          <a:p>
            <a:pPr algn="ctr"/>
            <a:r>
              <a:rPr sz="1300" b="0" i="0">
                <a:solidFill>
                  <a:srgbClr val="F2F4F7"/>
                </a:solidFill>
              </a:rPr>
              <a:t>Groq API
LLaMA 3.1-8b-instant
latence &lt; 1s</a:t>
            </a:r>
          </a:p>
        </p:txBody>
      </p:sp>
      <p:sp>
        <p:nvSpPr>
          <p:cNvPr id="18" name="TextBox 17"/>
          <p:cNvSpPr txBox="1"/>
          <p:nvPr/>
        </p:nvSpPr>
        <p:spPr>
          <a:xfrm>
            <a:off x="8595360" y="3108960"/>
            <a:ext cx="274320" cy="457200"/>
          </a:xfrm>
          <a:prstGeom prst="rect">
            <a:avLst/>
          </a:prstGeom>
          <a:noFill/>
        </p:spPr>
        <p:txBody>
          <a:bodyPr wrap="square">
            <a:spAutoFit/>
          </a:bodyPr>
          <a:lstStyle/>
          <a:p>
            <a:pPr algn="ctr"/>
            <a:r>
              <a:rPr sz="2800" b="1" i="0">
                <a:solidFill>
                  <a:srgbClr val="FFFFFF"/>
                </a:solidFill>
              </a:rPr>
              <a:t>→</a:t>
            </a:r>
          </a:p>
        </p:txBody>
      </p:sp>
      <p:sp>
        <p:nvSpPr>
          <p:cNvPr id="19" name="Rectangle 18"/>
          <p:cNvSpPr/>
          <p:nvPr/>
        </p:nvSpPr>
        <p:spPr>
          <a:xfrm>
            <a:off x="9098280" y="1737360"/>
            <a:ext cx="2560320" cy="3474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828800"/>
            <a:ext cx="2377440" cy="502920"/>
          </a:xfrm>
          <a:prstGeom prst="rect">
            <a:avLst/>
          </a:prstGeom>
          <a:noFill/>
        </p:spPr>
        <p:txBody>
          <a:bodyPr wrap="square">
            <a:spAutoFit/>
          </a:bodyPr>
          <a:lstStyle/>
          <a:p>
            <a:pPr algn="ctr"/>
            <a:r>
              <a:rPr sz="1600" b="1" i="0">
                <a:solidFill>
                  <a:srgbClr val="FFFFFF"/>
                </a:solidFill>
              </a:rPr>
              <a:t>SPEAKING</a:t>
            </a:r>
          </a:p>
        </p:txBody>
      </p:sp>
      <p:sp>
        <p:nvSpPr>
          <p:cNvPr id="21" name="TextBox 20"/>
          <p:cNvSpPr txBox="1"/>
          <p:nvPr/>
        </p:nvSpPr>
        <p:spPr>
          <a:xfrm>
            <a:off x="9189720" y="2423160"/>
            <a:ext cx="2377440" cy="2560320"/>
          </a:xfrm>
          <a:prstGeom prst="rect">
            <a:avLst/>
          </a:prstGeom>
          <a:noFill/>
        </p:spPr>
        <p:txBody>
          <a:bodyPr wrap="square">
            <a:spAutoFit/>
          </a:bodyPr>
          <a:lstStyle/>
          <a:p>
            <a:pPr algn="ctr"/>
            <a:r>
              <a:rPr sz="1300" b="0" i="0">
                <a:solidFill>
                  <a:srgbClr val="F2F4F7"/>
                </a:solidFill>
              </a:rPr>
              <a:t>ElevenLabs TTS
eleven_turbo_v2_5
Voix Adam (fr)</a:t>
            </a:r>
          </a:p>
        </p:txBody>
      </p:sp>
      <p:sp>
        <p:nvSpPr>
          <p:cNvPr id="22" name="TextBox 21"/>
          <p:cNvSpPr txBox="1"/>
          <p:nvPr/>
        </p:nvSpPr>
        <p:spPr>
          <a:xfrm>
            <a:off x="457200" y="5349240"/>
            <a:ext cx="11274552" cy="365760"/>
          </a:xfrm>
          <a:prstGeom prst="rect">
            <a:avLst/>
          </a:prstGeom>
          <a:noFill/>
        </p:spPr>
        <p:txBody>
          <a:bodyPr wrap="square">
            <a:spAutoFit/>
          </a:bodyPr>
          <a:lstStyle/>
          <a:p>
            <a:pPr algn="ctr"/>
            <a:r>
              <a:rPr sz="1200" b="0" i="1">
                <a:solidFill>
                  <a:srgbClr val="007A8A"/>
                </a:solidFill>
              </a:rPr>
              <a:t>← Retour automatique en fin d'audio (événement onended)</a:t>
            </a:r>
          </a:p>
        </p:txBody>
      </p:sp>
      <p:sp>
        <p:nvSpPr>
          <p:cNvPr id="23" name="TextBox 22"/>
          <p:cNvSpPr txBox="1"/>
          <p:nvPr/>
        </p:nvSpPr>
        <p:spPr>
          <a:xfrm>
            <a:off x="457200" y="5806440"/>
            <a:ext cx="3749039" cy="640080"/>
          </a:xfrm>
          <a:prstGeom prst="rect">
            <a:avLst/>
          </a:prstGeom>
          <a:noFill/>
        </p:spPr>
        <p:txBody>
          <a:bodyPr wrap="square">
            <a:spAutoFit/>
          </a:bodyPr>
          <a:lstStyle/>
          <a:p>
            <a:pPr algn="ctr"/>
            <a:r>
              <a:rPr sz="1200" b="0" i="0">
                <a:solidFill>
                  <a:srgbClr val="FFFFFF"/>
                </a:solidFill>
              </a:rPr>
              <a:t>🛡  Anti-écho : micro désactivé pendant la lecture TTS</a:t>
            </a:r>
          </a:p>
        </p:txBody>
      </p:sp>
      <p:sp>
        <p:nvSpPr>
          <p:cNvPr id="24" name="TextBox 23"/>
          <p:cNvSpPr txBox="1"/>
          <p:nvPr/>
        </p:nvSpPr>
        <p:spPr>
          <a:xfrm>
            <a:off x="4389120" y="5806440"/>
            <a:ext cx="3749039" cy="640080"/>
          </a:xfrm>
          <a:prstGeom prst="rect">
            <a:avLst/>
          </a:prstGeom>
          <a:noFill/>
        </p:spPr>
        <p:txBody>
          <a:bodyPr wrap="square">
            <a:spAutoFit/>
          </a:bodyPr>
          <a:lstStyle/>
          <a:p>
            <a:pPr algn="ctr"/>
            <a:r>
              <a:rPr sz="1200" b="0" i="0">
                <a:solidFill>
                  <a:srgbClr val="FFFFFF"/>
                </a:solidFill>
              </a:rPr>
              <a:t>⚡  Turbo v2.5 : latence divisée par 2 vs modèle standard</a:t>
            </a:r>
          </a:p>
        </p:txBody>
      </p:sp>
      <p:sp>
        <p:nvSpPr>
          <p:cNvPr id="25" name="TextBox 24"/>
          <p:cNvSpPr txBox="1"/>
          <p:nvPr/>
        </p:nvSpPr>
        <p:spPr>
          <a:xfrm>
            <a:off x="8321040" y="5806440"/>
            <a:ext cx="3749039" cy="640080"/>
          </a:xfrm>
          <a:prstGeom prst="rect">
            <a:avLst/>
          </a:prstGeom>
          <a:noFill/>
        </p:spPr>
        <p:txBody>
          <a:bodyPr wrap="square">
            <a:spAutoFit/>
          </a:bodyPr>
          <a:lstStyle/>
          <a:p>
            <a:pPr algn="ctr"/>
            <a:r>
              <a:rPr sz="1200" b="0" i="0">
                <a:solidFill>
                  <a:srgbClr val="FFFFFF"/>
                </a:solidFill>
              </a:rPr>
              <a:t>🔄  Fallback : speechSynthesis navigateur si ElevenLabs indisponible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Points Techniques Clés</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Triggers PostgreSQL  •  WebSocket  •  Sécurité BCrypt</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12 / 15</a:t>
            </a:r>
          </a:p>
        </p:txBody>
      </p:sp>
      <p:sp>
        <p:nvSpPr>
          <p:cNvPr id="7" name="Rectangle 6"/>
          <p:cNvSpPr/>
          <p:nvPr/>
        </p:nvSpPr>
        <p:spPr>
          <a:xfrm>
            <a:off x="365760" y="1691640"/>
            <a:ext cx="3657600" cy="4572000"/>
          </a:xfrm>
          <a:prstGeom prst="rect">
            <a:avLst/>
          </a:prstGeom>
          <a:solidFill>
            <a:srgbClr val="F2F4F7"/>
          </a:solidFill>
          <a:ln w="31750">
            <a:solidFill>
              <a:srgbClr val="1A2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91640"/>
            <a:ext cx="3657600" cy="50292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719072"/>
            <a:ext cx="3474720" cy="457200"/>
          </a:xfrm>
          <a:prstGeom prst="rect">
            <a:avLst/>
          </a:prstGeom>
          <a:noFill/>
        </p:spPr>
        <p:txBody>
          <a:bodyPr wrap="square">
            <a:spAutoFit/>
          </a:bodyPr>
          <a:lstStyle/>
          <a:p>
            <a:pPr algn="ctr"/>
            <a:r>
              <a:rPr sz="1300" b="1" i="0">
                <a:solidFill>
                  <a:srgbClr val="FFFFFF"/>
                </a:solidFill>
              </a:rPr>
              <a:t>Triggers PostgreSQL</a:t>
            </a:r>
          </a:p>
        </p:txBody>
      </p:sp>
      <p:sp>
        <p:nvSpPr>
          <p:cNvPr id="10" name="TextBox 9"/>
          <p:cNvSpPr txBox="1"/>
          <p:nvPr/>
        </p:nvSpPr>
        <p:spPr>
          <a:xfrm>
            <a:off x="502920" y="2286000"/>
            <a:ext cx="3383280" cy="3840480"/>
          </a:xfrm>
          <a:prstGeom prst="rect">
            <a:avLst/>
          </a:prstGeom>
          <a:noFill/>
        </p:spPr>
        <p:txBody>
          <a:bodyPr wrap="square">
            <a:spAutoFit/>
          </a:bodyPr>
          <a:lstStyle/>
          <a:p>
            <a:pPr>
              <a:spcBef>
                <a:spcPts val="400"/>
              </a:spcBef>
            </a:pPr>
            <a:r>
              <a:rPr sz="1250">
                <a:solidFill>
                  <a:srgbClr val="444444"/>
                </a:solidFill>
              </a:rPr>
              <a:t>▸  AFTER INSERT on order_items</a:t>
            </a:r>
          </a:p>
          <a:p>
            <a:pPr>
              <a:spcBef>
                <a:spcPts val="400"/>
              </a:spcBef>
            </a:pPr>
            <a:r>
              <a:rPr sz="1250">
                <a:solidFill>
                  <a:srgbClr val="444444"/>
                </a:solidFill>
              </a:rPr>
              <a:t>▸  → UPDATE products SET stock = stock - qty</a:t>
            </a:r>
          </a:p>
          <a:p>
            <a:pPr>
              <a:spcBef>
                <a:spcPts val="400"/>
              </a:spcBef>
            </a:pPr>
            <a:r>
              <a:rPr sz="1250">
                <a:solidFill>
                  <a:srgbClr val="444444"/>
                </a:solidFill>
              </a:rPr>
              <a:t>▸  Si stock &lt; alert_threshold :</a:t>
            </a:r>
          </a:p>
          <a:p>
            <a:pPr>
              <a:spcBef>
                <a:spcPts val="400"/>
              </a:spcBef>
            </a:pPr>
            <a:r>
              <a:rPr sz="1250">
                <a:solidFill>
                  <a:srgbClr val="444444"/>
                </a:solidFill>
              </a:rPr>
              <a:t>▸  → INSERT INTO stock_alerts</a:t>
            </a:r>
          </a:p>
          <a:p>
            <a:pPr>
              <a:spcBef>
                <a:spcPts val="400"/>
              </a:spcBef>
            </a:pPr>
            <a:r>
              <a:rPr sz="1250">
                <a:solidFill>
                  <a:srgbClr val="444444"/>
                </a:solidFill>
              </a:rPr>
              <a:t>▸  Cohérence garantie par la BD elle-même</a:t>
            </a:r>
          </a:p>
        </p:txBody>
      </p:sp>
      <p:sp>
        <p:nvSpPr>
          <p:cNvPr id="11" name="Rectangle 10"/>
          <p:cNvSpPr/>
          <p:nvPr/>
        </p:nvSpPr>
        <p:spPr>
          <a:xfrm>
            <a:off x="4297680" y="1691640"/>
            <a:ext cx="3657600" cy="4572000"/>
          </a:xfrm>
          <a:prstGeom prst="rect">
            <a:avLst/>
          </a:prstGeom>
          <a:solidFill>
            <a:srgbClr val="F2F4F7"/>
          </a:solidFill>
          <a:ln w="31750">
            <a:solidFill>
              <a:srgbClr val="007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691640"/>
            <a:ext cx="3657600" cy="50292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719072"/>
            <a:ext cx="3474720" cy="457200"/>
          </a:xfrm>
          <a:prstGeom prst="rect">
            <a:avLst/>
          </a:prstGeom>
          <a:noFill/>
        </p:spPr>
        <p:txBody>
          <a:bodyPr wrap="square">
            <a:spAutoFit/>
          </a:bodyPr>
          <a:lstStyle/>
          <a:p>
            <a:pPr algn="ctr"/>
            <a:r>
              <a:rPr sz="1300" b="1" i="0">
                <a:solidFill>
                  <a:srgbClr val="FFFFFF"/>
                </a:solidFill>
              </a:rPr>
              <a:t>WebSocket STOMP</a:t>
            </a:r>
          </a:p>
        </p:txBody>
      </p:sp>
      <p:sp>
        <p:nvSpPr>
          <p:cNvPr id="14" name="TextBox 13"/>
          <p:cNvSpPr txBox="1"/>
          <p:nvPr/>
        </p:nvSpPr>
        <p:spPr>
          <a:xfrm>
            <a:off x="4434840" y="2286000"/>
            <a:ext cx="3383280" cy="3840480"/>
          </a:xfrm>
          <a:prstGeom prst="rect">
            <a:avLst/>
          </a:prstGeom>
          <a:noFill/>
        </p:spPr>
        <p:txBody>
          <a:bodyPr wrap="square">
            <a:spAutoFit/>
          </a:bodyPr>
          <a:lstStyle/>
          <a:p>
            <a:pPr>
              <a:spcBef>
                <a:spcPts val="400"/>
              </a:spcBef>
            </a:pPr>
            <a:r>
              <a:rPr sz="1250">
                <a:solidFill>
                  <a:srgbClr val="444444"/>
                </a:solidFill>
              </a:rPr>
              <a:t>▸  Broker Spring Boot intégré</a:t>
            </a:r>
          </a:p>
          <a:p>
            <a:pPr>
              <a:spcBef>
                <a:spcPts val="400"/>
              </a:spcBef>
            </a:pPr>
            <a:r>
              <a:rPr sz="1250">
                <a:solidFill>
                  <a:srgbClr val="444444"/>
                </a:solidFill>
              </a:rPr>
              <a:t>▸  Topics par rôle : /topic/orders, /topic/alerts</a:t>
            </a:r>
          </a:p>
          <a:p>
            <a:pPr>
              <a:spcBef>
                <a:spcPts val="400"/>
              </a:spcBef>
            </a:pPr>
            <a:r>
              <a:rPr sz="1250">
                <a:solidFill>
                  <a:srgbClr val="444444"/>
                </a:solidFill>
              </a:rPr>
              <a:t>▸  SockJS fallback pour compatibilité</a:t>
            </a:r>
          </a:p>
          <a:p>
            <a:pPr>
              <a:spcBef>
                <a:spcPts val="400"/>
              </a:spcBef>
            </a:pPr>
            <a:r>
              <a:rPr sz="1250">
                <a:solidFill>
                  <a:srgbClr val="444444"/>
                </a:solidFill>
              </a:rPr>
              <a:t>▸  Clients React s'abonnent au démarrage</a:t>
            </a:r>
          </a:p>
          <a:p>
            <a:pPr>
              <a:spcBef>
                <a:spcPts val="400"/>
              </a:spcBef>
            </a:pPr>
            <a:r>
              <a:rPr sz="1250">
                <a:solidFill>
                  <a:srgbClr val="444444"/>
                </a:solidFill>
              </a:rPr>
              <a:t>▸  Latence &lt; 100ms en conditions normales</a:t>
            </a:r>
          </a:p>
        </p:txBody>
      </p:sp>
      <p:sp>
        <p:nvSpPr>
          <p:cNvPr id="15" name="Rectangle 14"/>
          <p:cNvSpPr/>
          <p:nvPr/>
        </p:nvSpPr>
        <p:spPr>
          <a:xfrm>
            <a:off x="8229600" y="1691640"/>
            <a:ext cx="3657600" cy="4572000"/>
          </a:xfrm>
          <a:prstGeom prst="rect">
            <a:avLst/>
          </a:prstGeom>
          <a:solidFill>
            <a:srgbClr val="F2F4F7"/>
          </a:solidFill>
          <a:ln w="317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691640"/>
            <a:ext cx="3657600" cy="502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719072"/>
            <a:ext cx="3474720" cy="457200"/>
          </a:xfrm>
          <a:prstGeom prst="rect">
            <a:avLst/>
          </a:prstGeom>
          <a:noFill/>
        </p:spPr>
        <p:txBody>
          <a:bodyPr wrap="square">
            <a:spAutoFit/>
          </a:bodyPr>
          <a:lstStyle/>
          <a:p>
            <a:pPr algn="ctr"/>
            <a:r>
              <a:rPr sz="1300" b="1" i="0">
                <a:solidFill>
                  <a:srgbClr val="FFFFFF"/>
                </a:solidFill>
              </a:rPr>
              <a:t>Sécurité</a:t>
            </a:r>
          </a:p>
        </p:txBody>
      </p:sp>
      <p:sp>
        <p:nvSpPr>
          <p:cNvPr id="18" name="TextBox 17"/>
          <p:cNvSpPr txBox="1"/>
          <p:nvPr/>
        </p:nvSpPr>
        <p:spPr>
          <a:xfrm>
            <a:off x="8366760" y="2286000"/>
            <a:ext cx="3383280" cy="3840480"/>
          </a:xfrm>
          <a:prstGeom prst="rect">
            <a:avLst/>
          </a:prstGeom>
          <a:noFill/>
        </p:spPr>
        <p:txBody>
          <a:bodyPr wrap="square">
            <a:spAutoFit/>
          </a:bodyPr>
          <a:lstStyle/>
          <a:p>
            <a:pPr>
              <a:spcBef>
                <a:spcPts val="400"/>
              </a:spcBef>
            </a:pPr>
            <a:r>
              <a:rPr sz="1250">
                <a:solidFill>
                  <a:srgbClr val="444444"/>
                </a:solidFill>
              </a:rPr>
              <a:t>▸  BCrypt facteur 10 — aucun mot de passe en clair</a:t>
            </a:r>
          </a:p>
          <a:p>
            <a:pPr>
              <a:spcBef>
                <a:spcPts val="400"/>
              </a:spcBef>
            </a:pPr>
            <a:r>
              <a:rPr sz="1250">
                <a:solidFill>
                  <a:srgbClr val="444444"/>
                </a:solidFill>
              </a:rPr>
              <a:t>▸  RBAC sur chaque endpoint Spring Boot</a:t>
            </a:r>
          </a:p>
          <a:p>
            <a:pPr>
              <a:spcBef>
                <a:spcPts val="400"/>
              </a:spcBef>
            </a:pPr>
            <a:r>
              <a:rPr sz="1250">
                <a:solidFill>
                  <a:srgbClr val="444444"/>
                </a:solidFill>
              </a:rPr>
              <a:t>▸  HTTPS partout (certificats SSL Render/Vercel)</a:t>
            </a:r>
          </a:p>
          <a:p>
            <a:pPr>
              <a:spcBef>
                <a:spcPts val="400"/>
              </a:spcBef>
            </a:pPr>
            <a:r>
              <a:rPr sz="1250">
                <a:solidFill>
                  <a:srgbClr val="444444"/>
                </a:solidFill>
              </a:rPr>
              <a:t>▸  Clés API en variables d'environnement</a:t>
            </a:r>
          </a:p>
          <a:p>
            <a:pPr>
              <a:spcBef>
                <a:spcPts val="400"/>
              </a:spcBef>
            </a:pPr>
            <a:r>
              <a:rPr sz="1250">
                <a:solidFill>
                  <a:srgbClr val="444444"/>
                </a:solidFill>
              </a:rPr>
              <a:t>▸  Requêtes paramétrées — anti SQL injection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GitHub &amp; CI/CD</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Intégration continue — déploiement automatique en &lt; 3 minutes</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13 / 15</a:t>
            </a:r>
          </a:p>
        </p:txBody>
      </p:sp>
      <p:sp>
        <p:nvSpPr>
          <p:cNvPr id="7" name="Rectangle 6"/>
          <p:cNvSpPr/>
          <p:nvPr/>
        </p:nvSpPr>
        <p:spPr>
          <a:xfrm>
            <a:off x="457200" y="1828800"/>
            <a:ext cx="2468880" cy="91440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19"/>
            <a:ext cx="2286000" cy="822960"/>
          </a:xfrm>
          <a:prstGeom prst="rect">
            <a:avLst/>
          </a:prstGeom>
          <a:noFill/>
        </p:spPr>
        <p:txBody>
          <a:bodyPr wrap="square">
            <a:spAutoFit/>
          </a:bodyPr>
          <a:lstStyle/>
          <a:p>
            <a:pPr algn="ctr"/>
            <a:r>
              <a:rPr sz="1400" b="1" i="0">
                <a:solidFill>
                  <a:srgbClr val="FFFFFF"/>
                </a:solidFill>
              </a:rPr>
              <a:t>git push
main</a:t>
            </a:r>
          </a:p>
        </p:txBody>
      </p:sp>
      <p:sp>
        <p:nvSpPr>
          <p:cNvPr id="9" name="Rectangle 8"/>
          <p:cNvSpPr/>
          <p:nvPr/>
        </p:nvSpPr>
        <p:spPr>
          <a:xfrm>
            <a:off x="457200" y="2834640"/>
            <a:ext cx="2468880" cy="19202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26080"/>
            <a:ext cx="2286000" cy="1737360"/>
          </a:xfrm>
          <a:prstGeom prst="rect">
            <a:avLst/>
          </a:prstGeom>
          <a:noFill/>
        </p:spPr>
        <p:txBody>
          <a:bodyPr wrap="square">
            <a:spAutoFit/>
          </a:bodyPr>
          <a:lstStyle/>
          <a:p>
            <a:pPr algn="ctr"/>
            <a:r>
              <a:rPr sz="1300" b="0" i="0">
                <a:solidFill>
                  <a:srgbClr val="444444"/>
                </a:solidFill>
              </a:rPr>
              <a:t>Développeur</a:t>
            </a:r>
          </a:p>
        </p:txBody>
      </p:sp>
      <p:sp>
        <p:nvSpPr>
          <p:cNvPr id="11" name="TextBox 10"/>
          <p:cNvSpPr txBox="1"/>
          <p:nvPr/>
        </p:nvSpPr>
        <p:spPr>
          <a:xfrm>
            <a:off x="2761488" y="2103120"/>
            <a:ext cx="320040" cy="457200"/>
          </a:xfrm>
          <a:prstGeom prst="rect">
            <a:avLst/>
          </a:prstGeom>
          <a:noFill/>
        </p:spPr>
        <p:txBody>
          <a:bodyPr wrap="square">
            <a:spAutoFit/>
          </a:bodyPr>
          <a:lstStyle/>
          <a:p>
            <a:pPr algn="l"/>
            <a:r>
              <a:rPr sz="2400" b="1" i="0">
                <a:solidFill>
                  <a:srgbClr val="888888"/>
                </a:solidFill>
              </a:rPr>
              <a:t>→</a:t>
            </a:r>
          </a:p>
        </p:txBody>
      </p:sp>
      <p:sp>
        <p:nvSpPr>
          <p:cNvPr id="12" name="Rectangle 11"/>
          <p:cNvSpPr/>
          <p:nvPr/>
        </p:nvSpPr>
        <p:spPr>
          <a:xfrm>
            <a:off x="3291840" y="1828800"/>
            <a:ext cx="2468880" cy="91440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874519"/>
            <a:ext cx="2286000" cy="822960"/>
          </a:xfrm>
          <a:prstGeom prst="rect">
            <a:avLst/>
          </a:prstGeom>
          <a:noFill/>
        </p:spPr>
        <p:txBody>
          <a:bodyPr wrap="square">
            <a:spAutoFit/>
          </a:bodyPr>
          <a:lstStyle/>
          <a:p>
            <a:pPr algn="ctr"/>
            <a:r>
              <a:rPr sz="1400" b="1" i="0">
                <a:solidFill>
                  <a:srgbClr val="FFFFFF"/>
                </a:solidFill>
              </a:rPr>
              <a:t>GitHub
Webhook</a:t>
            </a:r>
          </a:p>
        </p:txBody>
      </p:sp>
      <p:sp>
        <p:nvSpPr>
          <p:cNvPr id="14" name="Rectangle 13"/>
          <p:cNvSpPr/>
          <p:nvPr/>
        </p:nvSpPr>
        <p:spPr>
          <a:xfrm>
            <a:off x="3291840" y="2834640"/>
            <a:ext cx="2468880" cy="19202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2926080"/>
            <a:ext cx="2286000" cy="1737360"/>
          </a:xfrm>
          <a:prstGeom prst="rect">
            <a:avLst/>
          </a:prstGeom>
          <a:noFill/>
        </p:spPr>
        <p:txBody>
          <a:bodyPr wrap="square">
            <a:spAutoFit/>
          </a:bodyPr>
          <a:lstStyle/>
          <a:p>
            <a:pPr algn="ctr"/>
            <a:r>
              <a:rPr sz="1300" b="0" i="0">
                <a:solidFill>
                  <a:srgbClr val="444444"/>
                </a:solidFill>
              </a:rPr>
              <a:t>Notification</a:t>
            </a:r>
          </a:p>
        </p:txBody>
      </p:sp>
      <p:sp>
        <p:nvSpPr>
          <p:cNvPr id="16" name="TextBox 15"/>
          <p:cNvSpPr txBox="1"/>
          <p:nvPr/>
        </p:nvSpPr>
        <p:spPr>
          <a:xfrm>
            <a:off x="5596128" y="2103120"/>
            <a:ext cx="320040" cy="457200"/>
          </a:xfrm>
          <a:prstGeom prst="rect">
            <a:avLst/>
          </a:prstGeom>
          <a:noFill/>
        </p:spPr>
        <p:txBody>
          <a:bodyPr wrap="square">
            <a:spAutoFit/>
          </a:bodyPr>
          <a:lstStyle/>
          <a:p>
            <a:pPr algn="l"/>
            <a:r>
              <a:rPr sz="2400" b="1" i="0">
                <a:solidFill>
                  <a:srgbClr val="888888"/>
                </a:solidFill>
              </a:rPr>
              <a:t>→</a:t>
            </a:r>
          </a:p>
        </p:txBody>
      </p:sp>
      <p:sp>
        <p:nvSpPr>
          <p:cNvPr id="17" name="Rectangle 16"/>
          <p:cNvSpPr/>
          <p:nvPr/>
        </p:nvSpPr>
        <p:spPr>
          <a:xfrm>
            <a:off x="6126480" y="1828800"/>
            <a:ext cx="2468880" cy="9144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874519"/>
            <a:ext cx="2286000" cy="822960"/>
          </a:xfrm>
          <a:prstGeom prst="rect">
            <a:avLst/>
          </a:prstGeom>
          <a:noFill/>
        </p:spPr>
        <p:txBody>
          <a:bodyPr wrap="square">
            <a:spAutoFit/>
          </a:bodyPr>
          <a:lstStyle/>
          <a:p>
            <a:pPr algn="ctr"/>
            <a:r>
              <a:rPr sz="1400" b="1" i="0">
                <a:solidFill>
                  <a:srgbClr val="FFFFFF"/>
                </a:solidFill>
              </a:rPr>
              <a:t>Render
Build</a:t>
            </a:r>
          </a:p>
        </p:txBody>
      </p:sp>
      <p:sp>
        <p:nvSpPr>
          <p:cNvPr id="19" name="Rectangle 18"/>
          <p:cNvSpPr/>
          <p:nvPr/>
        </p:nvSpPr>
        <p:spPr>
          <a:xfrm>
            <a:off x="6126480" y="2834640"/>
            <a:ext cx="2468880" cy="19202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2926080"/>
            <a:ext cx="2286000" cy="1737360"/>
          </a:xfrm>
          <a:prstGeom prst="rect">
            <a:avLst/>
          </a:prstGeom>
          <a:noFill/>
        </p:spPr>
        <p:txBody>
          <a:bodyPr wrap="square">
            <a:spAutoFit/>
          </a:bodyPr>
          <a:lstStyle/>
          <a:p>
            <a:pPr algn="ctr"/>
            <a:r>
              <a:rPr sz="1300" b="0" i="0">
                <a:solidFill>
                  <a:srgbClr val="444444"/>
                </a:solidFill>
              </a:rPr>
              <a:t>mvn package
→ JAR déployé</a:t>
            </a:r>
          </a:p>
        </p:txBody>
      </p:sp>
      <p:sp>
        <p:nvSpPr>
          <p:cNvPr id="21" name="TextBox 20"/>
          <p:cNvSpPr txBox="1"/>
          <p:nvPr/>
        </p:nvSpPr>
        <p:spPr>
          <a:xfrm>
            <a:off x="8430768" y="2103120"/>
            <a:ext cx="320040" cy="457200"/>
          </a:xfrm>
          <a:prstGeom prst="rect">
            <a:avLst/>
          </a:prstGeom>
          <a:noFill/>
        </p:spPr>
        <p:txBody>
          <a:bodyPr wrap="square">
            <a:spAutoFit/>
          </a:bodyPr>
          <a:lstStyle/>
          <a:p>
            <a:pPr algn="l"/>
            <a:r>
              <a:rPr sz="2400" b="1" i="0">
                <a:solidFill>
                  <a:srgbClr val="888888"/>
                </a:solidFill>
              </a:rPr>
              <a:t>→</a:t>
            </a:r>
          </a:p>
        </p:txBody>
      </p:sp>
      <p:sp>
        <p:nvSpPr>
          <p:cNvPr id="22" name="Rectangle 21"/>
          <p:cNvSpPr/>
          <p:nvPr/>
        </p:nvSpPr>
        <p:spPr>
          <a:xfrm>
            <a:off x="8961120" y="1828800"/>
            <a:ext cx="24688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874519"/>
            <a:ext cx="2286000" cy="822960"/>
          </a:xfrm>
          <a:prstGeom prst="rect">
            <a:avLst/>
          </a:prstGeom>
          <a:noFill/>
        </p:spPr>
        <p:txBody>
          <a:bodyPr wrap="square">
            <a:spAutoFit/>
          </a:bodyPr>
          <a:lstStyle/>
          <a:p>
            <a:pPr algn="ctr"/>
            <a:r>
              <a:rPr sz="1400" b="1" i="0">
                <a:solidFill>
                  <a:srgbClr val="FFFFFF"/>
                </a:solidFill>
              </a:rPr>
              <a:t>Vercel
Build</a:t>
            </a:r>
          </a:p>
        </p:txBody>
      </p:sp>
      <p:sp>
        <p:nvSpPr>
          <p:cNvPr id="24" name="Rectangle 23"/>
          <p:cNvSpPr/>
          <p:nvPr/>
        </p:nvSpPr>
        <p:spPr>
          <a:xfrm>
            <a:off x="8961120" y="2834640"/>
            <a:ext cx="2468880" cy="192024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2926080"/>
            <a:ext cx="2286000" cy="1737360"/>
          </a:xfrm>
          <a:prstGeom prst="rect">
            <a:avLst/>
          </a:prstGeom>
          <a:noFill/>
        </p:spPr>
        <p:txBody>
          <a:bodyPr wrap="square">
            <a:spAutoFit/>
          </a:bodyPr>
          <a:lstStyle/>
          <a:p>
            <a:pPr algn="ctr"/>
            <a:r>
              <a:rPr sz="1300" b="0" i="0">
                <a:solidFill>
                  <a:srgbClr val="444444"/>
                </a:solidFill>
              </a:rPr>
              <a:t>npm run build
→ CDN distribué</a:t>
            </a:r>
          </a:p>
        </p:txBody>
      </p:sp>
      <p:sp>
        <p:nvSpPr>
          <p:cNvPr id="26" name="TextBox 25"/>
          <p:cNvSpPr txBox="1"/>
          <p:nvPr/>
        </p:nvSpPr>
        <p:spPr>
          <a:xfrm>
            <a:off x="457200" y="4892040"/>
            <a:ext cx="11274552" cy="457200"/>
          </a:xfrm>
          <a:prstGeom prst="rect">
            <a:avLst/>
          </a:prstGeom>
          <a:noFill/>
        </p:spPr>
        <p:txBody>
          <a:bodyPr wrap="square">
            <a:spAutoFit/>
          </a:bodyPr>
          <a:lstStyle/>
          <a:p>
            <a:pPr algn="ctr"/>
            <a:r>
              <a:rPr sz="1400" b="1" i="0">
                <a:solidFill>
                  <a:srgbClr val="007A8A"/>
                </a:solidFill>
              </a:rPr>
              <a:t>⏱  Production en ligne en moins de 3 minutes après chaque push</a:t>
            </a:r>
          </a:p>
        </p:txBody>
      </p:sp>
      <p:sp>
        <p:nvSpPr>
          <p:cNvPr id="27" name="Rectangle 26"/>
          <p:cNvSpPr/>
          <p:nvPr/>
        </p:nvSpPr>
        <p:spPr>
          <a:xfrm>
            <a:off x="457200" y="5394960"/>
            <a:ext cx="11274552" cy="10972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486400"/>
            <a:ext cx="10908792" cy="914400"/>
          </a:xfrm>
          <a:prstGeom prst="rect">
            <a:avLst/>
          </a:prstGeom>
          <a:noFill/>
        </p:spPr>
        <p:txBody>
          <a:bodyPr wrap="square">
            <a:spAutoFit/>
          </a:bodyPr>
          <a:lstStyle/>
          <a:p>
            <a:pPr algn="ctr"/>
            <a:r>
              <a:rPr sz="1300" b="0" i="0">
                <a:solidFill>
                  <a:srgbClr val="444444"/>
                </a:solidFill>
              </a:rPr>
              <a:t>Variables d'environnement sensibles gérées dans les dashboards Render/Vercel — jamais dans le code source. Fichier .env exclu via .gitignore.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46304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77240"/>
          </a:xfrm>
          <a:prstGeom prst="rect">
            <a:avLst/>
          </a:prstGeom>
          <a:noFill/>
        </p:spPr>
        <p:txBody>
          <a:bodyPr wrap="square">
            <a:spAutoFit/>
          </a:bodyPr>
          <a:lstStyle/>
          <a:p>
            <a:pPr algn="l"/>
            <a:r>
              <a:rPr sz="2800" b="1" i="0">
                <a:solidFill>
                  <a:srgbClr val="FFFFFF"/>
                </a:solidFill>
              </a:rPr>
              <a:t>Difficultés Rencontrées</a:t>
            </a:r>
          </a:p>
        </p:txBody>
      </p:sp>
      <p:sp>
        <p:nvSpPr>
          <p:cNvPr id="4" name="TextBox 3"/>
          <p:cNvSpPr txBox="1"/>
          <p:nvPr/>
        </p:nvSpPr>
        <p:spPr>
          <a:xfrm>
            <a:off x="457200" y="914400"/>
            <a:ext cx="11274552" cy="457200"/>
          </a:xfrm>
          <a:prstGeom prst="rect">
            <a:avLst/>
          </a:prstGeom>
          <a:noFill/>
        </p:spPr>
        <p:txBody>
          <a:bodyPr wrap="square">
            <a:spAutoFit/>
          </a:bodyPr>
          <a:lstStyle/>
          <a:p>
            <a:pPr algn="l"/>
            <a:r>
              <a:rPr sz="1500" b="0" i="1">
                <a:solidFill>
                  <a:srgbClr val="F2F4F7"/>
                </a:solidFill>
              </a:rPr>
              <a:t>Problèmes réels et solutions apportées</a:t>
            </a:r>
          </a:p>
        </p:txBody>
      </p:sp>
      <p:sp>
        <p:nvSpPr>
          <p:cNvPr id="5" name="Rectangle 4"/>
          <p:cNvSpPr/>
          <p:nvPr/>
        </p:nvSpPr>
        <p:spPr>
          <a:xfrm>
            <a:off x="0" y="6793992"/>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14 / 15</a:t>
            </a:r>
          </a:p>
        </p:txBody>
      </p:sp>
      <p:sp>
        <p:nvSpPr>
          <p:cNvPr id="7" name="Rectangle 6"/>
          <p:cNvSpPr/>
          <p:nvPr/>
        </p:nvSpPr>
        <p:spPr>
          <a:xfrm>
            <a:off x="365760" y="1691640"/>
            <a:ext cx="11457432" cy="1417320"/>
          </a:xfrm>
          <a:prstGeom prst="rect">
            <a:avLst/>
          </a:prstGeom>
          <a:solidFill>
            <a:srgbClr val="F2F4F7"/>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91640"/>
            <a:ext cx="164592" cy="1417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64792"/>
            <a:ext cx="3657600" cy="411480"/>
          </a:xfrm>
          <a:prstGeom prst="rect">
            <a:avLst/>
          </a:prstGeom>
          <a:noFill/>
        </p:spPr>
        <p:txBody>
          <a:bodyPr wrap="square">
            <a:spAutoFit/>
          </a:bodyPr>
          <a:lstStyle/>
          <a:p>
            <a:pPr algn="l"/>
            <a:r>
              <a:rPr sz="1300" b="1" i="0">
                <a:solidFill>
                  <a:srgbClr val="C0392B"/>
                </a:solidFill>
              </a:rPr>
              <a:t>🎤  Anti-écho Chatbot Vocal</a:t>
            </a:r>
          </a:p>
        </p:txBody>
      </p:sp>
      <p:sp>
        <p:nvSpPr>
          <p:cNvPr id="10" name="TextBox 9"/>
          <p:cNvSpPr txBox="1"/>
          <p:nvPr/>
        </p:nvSpPr>
        <p:spPr>
          <a:xfrm>
            <a:off x="640080" y="2194560"/>
            <a:ext cx="5394960" cy="822960"/>
          </a:xfrm>
          <a:prstGeom prst="rect">
            <a:avLst/>
          </a:prstGeom>
          <a:noFill/>
        </p:spPr>
        <p:txBody>
          <a:bodyPr wrap="square">
            <a:spAutoFit/>
          </a:bodyPr>
          <a:lstStyle/>
          <a:p>
            <a:pPr algn="l"/>
            <a:r>
              <a:rPr sz="1150" b="0" i="0">
                <a:solidFill>
                  <a:srgbClr val="444444"/>
                </a:solidFill>
              </a:rPr>
              <a:t>Problème : Problème : ElevenLabs lisait une réponse → le micro captait l'audio et relançait une nouvelle requête Groq en boucle.</a:t>
            </a:r>
          </a:p>
        </p:txBody>
      </p:sp>
      <p:sp>
        <p:nvSpPr>
          <p:cNvPr id="11" name="TextBox 10"/>
          <p:cNvSpPr txBox="1"/>
          <p:nvPr/>
        </p:nvSpPr>
        <p:spPr>
          <a:xfrm>
            <a:off x="6309360" y="1764792"/>
            <a:ext cx="5486400" cy="1234440"/>
          </a:xfrm>
          <a:prstGeom prst="rect">
            <a:avLst/>
          </a:prstGeom>
          <a:noFill/>
        </p:spPr>
        <p:txBody>
          <a:bodyPr wrap="square">
            <a:spAutoFit/>
          </a:bodyPr>
          <a:lstStyle/>
          <a:p>
            <a:pPr algn="l"/>
            <a:r>
              <a:rPr sz="1150" b="0" i="0">
                <a:solidFill>
                  <a:srgbClr val="1A235E"/>
                </a:solidFill>
              </a:rPr>
              <a:t>Solution : Solution : désactiver le microphone pendant la lecture TTS. Timer de sécurité 15s (silence) + timer global 30s (blocage).</a:t>
            </a:r>
          </a:p>
        </p:txBody>
      </p:sp>
      <p:sp>
        <p:nvSpPr>
          <p:cNvPr id="12" name="Rectangle 11"/>
          <p:cNvSpPr/>
          <p:nvPr/>
        </p:nvSpPr>
        <p:spPr>
          <a:xfrm>
            <a:off x="365760" y="3246120"/>
            <a:ext cx="11457432" cy="1417320"/>
          </a:xfrm>
          <a:prstGeom prst="rect">
            <a:avLst/>
          </a:prstGeom>
          <a:solidFill>
            <a:srgbClr val="F2F4F7"/>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246120"/>
            <a:ext cx="164592" cy="1417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19272"/>
            <a:ext cx="3657600" cy="411480"/>
          </a:xfrm>
          <a:prstGeom prst="rect">
            <a:avLst/>
          </a:prstGeom>
          <a:noFill/>
        </p:spPr>
        <p:txBody>
          <a:bodyPr wrap="square">
            <a:spAutoFit/>
          </a:bodyPr>
          <a:lstStyle/>
          <a:p>
            <a:pPr algn="l"/>
            <a:r>
              <a:rPr sz="1300" b="1" i="0">
                <a:solidFill>
                  <a:srgbClr val="E67E22"/>
                </a:solidFill>
              </a:rPr>
              <a:t>⚡  Latence TTS trop élevée</a:t>
            </a:r>
          </a:p>
        </p:txBody>
      </p:sp>
      <p:sp>
        <p:nvSpPr>
          <p:cNvPr id="15" name="TextBox 14"/>
          <p:cNvSpPr txBox="1"/>
          <p:nvPr/>
        </p:nvSpPr>
        <p:spPr>
          <a:xfrm>
            <a:off x="640080" y="3749040"/>
            <a:ext cx="5394960" cy="822960"/>
          </a:xfrm>
          <a:prstGeom prst="rect">
            <a:avLst/>
          </a:prstGeom>
          <a:noFill/>
        </p:spPr>
        <p:txBody>
          <a:bodyPr wrap="square">
            <a:spAutoFit/>
          </a:bodyPr>
          <a:lstStyle/>
          <a:p>
            <a:pPr algn="l"/>
            <a:r>
              <a:rPr sz="1150" b="0" i="0">
                <a:solidFill>
                  <a:srgbClr val="444444"/>
                </a:solidFill>
              </a:rPr>
              <a:t>Problème : Problème : le modèle ElevenLabs standard ajoutait 2-3 secondes d'attente — expérience vocale non naturelle.</a:t>
            </a:r>
          </a:p>
        </p:txBody>
      </p:sp>
      <p:sp>
        <p:nvSpPr>
          <p:cNvPr id="16" name="TextBox 15"/>
          <p:cNvSpPr txBox="1"/>
          <p:nvPr/>
        </p:nvSpPr>
        <p:spPr>
          <a:xfrm>
            <a:off x="6309360" y="3319272"/>
            <a:ext cx="5486400" cy="1234440"/>
          </a:xfrm>
          <a:prstGeom prst="rect">
            <a:avLst/>
          </a:prstGeom>
          <a:noFill/>
        </p:spPr>
        <p:txBody>
          <a:bodyPr wrap="square">
            <a:spAutoFit/>
          </a:bodyPr>
          <a:lstStyle/>
          <a:p>
            <a:pPr algn="l"/>
            <a:r>
              <a:rPr sz="1150" b="0" i="0">
                <a:solidFill>
                  <a:srgbClr val="1A235E"/>
                </a:solidFill>
              </a:rPr>
              <a:t>Solution : Solution : migration vers eleven_turbo_v2_5 → latence divisée par 2. Découpage en phrases courtes pour un streaming perçu.</a:t>
            </a:r>
          </a:p>
        </p:txBody>
      </p:sp>
      <p:sp>
        <p:nvSpPr>
          <p:cNvPr id="17" name="Rectangle 16"/>
          <p:cNvSpPr/>
          <p:nvPr/>
        </p:nvSpPr>
        <p:spPr>
          <a:xfrm>
            <a:off x="365760" y="4800600"/>
            <a:ext cx="11457432" cy="1417320"/>
          </a:xfrm>
          <a:prstGeom prst="rect">
            <a:avLst/>
          </a:prstGeom>
          <a:solidFill>
            <a:srgbClr val="F2F4F7"/>
          </a:solidFill>
          <a:ln w="25400">
            <a:solidFill>
              <a:srgbClr val="1A2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4800600"/>
            <a:ext cx="164592" cy="1417320"/>
          </a:xfrm>
          <a:prstGeom prst="rect">
            <a:avLst/>
          </a:prstGeom>
          <a:solidFill>
            <a:srgbClr val="1A2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873752"/>
            <a:ext cx="3657600" cy="411480"/>
          </a:xfrm>
          <a:prstGeom prst="rect">
            <a:avLst/>
          </a:prstGeom>
          <a:noFill/>
        </p:spPr>
        <p:txBody>
          <a:bodyPr wrap="square">
            <a:spAutoFit/>
          </a:bodyPr>
          <a:lstStyle/>
          <a:p>
            <a:pPr algn="l"/>
            <a:r>
              <a:rPr sz="1300" b="1" i="0">
                <a:solidFill>
                  <a:srgbClr val="1A235E"/>
                </a:solidFill>
              </a:rPr>
              <a:t>📊  Diagramme MPD trop grand (400 HTTP)</a:t>
            </a:r>
          </a:p>
        </p:txBody>
      </p:sp>
      <p:sp>
        <p:nvSpPr>
          <p:cNvPr id="20" name="TextBox 19"/>
          <p:cNvSpPr txBox="1"/>
          <p:nvPr/>
        </p:nvSpPr>
        <p:spPr>
          <a:xfrm>
            <a:off x="640080" y="5303520"/>
            <a:ext cx="5394960" cy="822960"/>
          </a:xfrm>
          <a:prstGeom prst="rect">
            <a:avLst/>
          </a:prstGeom>
          <a:noFill/>
        </p:spPr>
        <p:txBody>
          <a:bodyPr wrap="square">
            <a:spAutoFit/>
          </a:bodyPr>
          <a:lstStyle/>
          <a:p>
            <a:pPr algn="l"/>
            <a:r>
              <a:rPr sz="1150" b="0" i="0">
                <a:solidFill>
                  <a:srgbClr val="444444"/>
                </a:solidFill>
              </a:rPr>
              <a:t>Problème : Problème : le MPD avec 14 tables générait une URL encodée PlantUML de 8000+ caractères → header HTTP trop large.</a:t>
            </a:r>
          </a:p>
        </p:txBody>
      </p:sp>
      <p:sp>
        <p:nvSpPr>
          <p:cNvPr id="21" name="TextBox 20"/>
          <p:cNvSpPr txBox="1"/>
          <p:nvPr/>
        </p:nvSpPr>
        <p:spPr>
          <a:xfrm>
            <a:off x="6309360" y="4873752"/>
            <a:ext cx="5486400" cy="1234440"/>
          </a:xfrm>
          <a:prstGeom prst="rect">
            <a:avLst/>
          </a:prstGeom>
          <a:noFill/>
        </p:spPr>
        <p:txBody>
          <a:bodyPr wrap="square">
            <a:spAutoFit/>
          </a:bodyPr>
          <a:lstStyle/>
          <a:p>
            <a:pPr algn="l"/>
            <a:r>
              <a:rPr sz="1150" b="0" i="0">
                <a:solidFill>
                  <a:srgbClr val="1A235E"/>
                </a:solidFill>
              </a:rPr>
              <a:t>Solution : Solution : découper le MPD en 2 diagrammes de 7 tables chacun.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235E"/>
        </a:solidFill>
        <a:effectLst/>
      </p:bgPr>
    </p:bg>
    <p:spTree>
      <p:nvGrpSpPr>
        <p:cNvPr id="1" name=""/>
        <p:cNvGrpSpPr/>
        <p:nvPr/>
      </p:nvGrpSpPr>
      <p:grpSpPr/>
      <p:sp>
        <p:nvSpPr>
          <p:cNvPr id="2" name="Rectangle 1"/>
          <p:cNvSpPr/>
          <p:nvPr/>
        </p:nvSpPr>
        <p:spPr>
          <a:xfrm>
            <a:off x="0" y="1371600"/>
            <a:ext cx="12188952" cy="64008"/>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1005840"/>
          </a:xfrm>
          <a:prstGeom prst="rect">
            <a:avLst/>
          </a:prstGeom>
          <a:noFill/>
        </p:spPr>
        <p:txBody>
          <a:bodyPr wrap="square">
            <a:spAutoFit/>
          </a:bodyPr>
          <a:lstStyle/>
          <a:p>
            <a:pPr algn="l"/>
            <a:r>
              <a:rPr sz="3000" b="1" i="0">
                <a:solidFill>
                  <a:srgbClr val="FFFFFF"/>
                </a:solidFill>
              </a:rPr>
              <a:t>Conclusion &amp; Perspectives</a:t>
            </a:r>
          </a:p>
        </p:txBody>
      </p:sp>
      <p:sp>
        <p:nvSpPr>
          <p:cNvPr id="5" name="Rectangle 4"/>
          <p:cNvSpPr/>
          <p:nvPr/>
        </p:nvSpPr>
        <p:spPr>
          <a:xfrm>
            <a:off x="365760" y="1554480"/>
            <a:ext cx="5394960" cy="420624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029200" cy="457200"/>
          </a:xfrm>
          <a:prstGeom prst="rect">
            <a:avLst/>
          </a:prstGeom>
          <a:noFill/>
        </p:spPr>
        <p:txBody>
          <a:bodyPr wrap="square">
            <a:spAutoFit/>
          </a:bodyPr>
          <a:lstStyle/>
          <a:p>
            <a:pPr algn="l"/>
            <a:r>
              <a:rPr sz="1400" b="1" i="0">
                <a:solidFill>
                  <a:srgbClr val="FFFFFF"/>
                </a:solidFill>
              </a:rPr>
              <a:t>✅  Ce qui a été réalisé</a:t>
            </a:r>
          </a:p>
        </p:txBody>
      </p:sp>
      <p:sp>
        <p:nvSpPr>
          <p:cNvPr id="7" name="TextBox 6"/>
          <p:cNvSpPr txBox="1"/>
          <p:nvPr/>
        </p:nvSpPr>
        <p:spPr>
          <a:xfrm>
            <a:off x="548640" y="2194560"/>
            <a:ext cx="5029200" cy="3383280"/>
          </a:xfrm>
          <a:prstGeom prst="rect">
            <a:avLst/>
          </a:prstGeom>
          <a:noFill/>
        </p:spPr>
        <p:txBody>
          <a:bodyPr wrap="square">
            <a:spAutoFit/>
          </a:bodyPr>
          <a:lstStyle/>
          <a:p>
            <a:pPr>
              <a:spcBef>
                <a:spcPts val="400"/>
              </a:spcBef>
            </a:pPr>
            <a:r>
              <a:rPr sz="1300">
                <a:solidFill>
                  <a:srgbClr val="FFFFFF"/>
                </a:solidFill>
              </a:rPr>
              <a:t>▸  Application complète déployée en production</a:t>
            </a:r>
          </a:p>
          <a:p>
            <a:pPr>
              <a:spcBef>
                <a:spcPts val="400"/>
              </a:spcBef>
            </a:pPr>
            <a:r>
              <a:rPr sz="1300">
                <a:solidFill>
                  <a:srgbClr val="FFFFFF"/>
                </a:solidFill>
              </a:rPr>
              <a:t>▸  6 rôles  •  26 fonctionnalités  •  14 tables</a:t>
            </a:r>
          </a:p>
          <a:p>
            <a:pPr>
              <a:spcBef>
                <a:spcPts val="400"/>
              </a:spcBef>
            </a:pPr>
            <a:r>
              <a:rPr sz="1300">
                <a:solidFill>
                  <a:srgbClr val="FFFFFF"/>
                </a:solidFill>
              </a:rPr>
              <a:t>▸  API REST documentée via Swagger UI</a:t>
            </a:r>
          </a:p>
          <a:p>
            <a:pPr>
              <a:spcBef>
                <a:spcPts val="400"/>
              </a:spcBef>
            </a:pPr>
            <a:r>
              <a:rPr sz="1300">
                <a:solidFill>
                  <a:srgbClr val="FFFFFF"/>
                </a:solidFill>
              </a:rPr>
              <a:t>▸  Notifications temps réel (WebSocket STOMP)</a:t>
            </a:r>
          </a:p>
          <a:p>
            <a:pPr>
              <a:spcBef>
                <a:spcPts val="400"/>
              </a:spcBef>
            </a:pPr>
            <a:r>
              <a:rPr sz="1300">
                <a:solidFill>
                  <a:srgbClr val="FFFFFF"/>
                </a:solidFill>
              </a:rPr>
              <a:t>▸  Chatbot vocal IA (Groq + ElevenLabs)</a:t>
            </a:r>
          </a:p>
          <a:p>
            <a:pPr>
              <a:spcBef>
                <a:spcPts val="400"/>
              </a:spcBef>
            </a:pPr>
            <a:r>
              <a:rPr sz="1300">
                <a:solidFill>
                  <a:srgbClr val="FFFFFF"/>
                </a:solidFill>
              </a:rPr>
              <a:t>▸  Paiements Stripe  •  Export PDF  •  Triggers BD</a:t>
            </a:r>
          </a:p>
          <a:p>
            <a:pPr>
              <a:spcBef>
                <a:spcPts val="400"/>
              </a:spcBef>
            </a:pPr>
            <a:r>
              <a:rPr sz="1300">
                <a:solidFill>
                  <a:srgbClr val="FFFFFF"/>
                </a:solidFill>
              </a:rPr>
              <a:t>▸  CI/CD automatique GitHub → Render + Vercel</a:t>
            </a:r>
          </a:p>
        </p:txBody>
      </p:sp>
      <p:sp>
        <p:nvSpPr>
          <p:cNvPr id="8" name="Rectangle 7"/>
          <p:cNvSpPr/>
          <p:nvPr/>
        </p:nvSpPr>
        <p:spPr>
          <a:xfrm>
            <a:off x="6400800" y="1554480"/>
            <a:ext cx="5394960" cy="4206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645920"/>
            <a:ext cx="5029200" cy="457200"/>
          </a:xfrm>
          <a:prstGeom prst="rect">
            <a:avLst/>
          </a:prstGeom>
          <a:noFill/>
        </p:spPr>
        <p:txBody>
          <a:bodyPr wrap="square">
            <a:spAutoFit/>
          </a:bodyPr>
          <a:lstStyle/>
          <a:p>
            <a:pPr algn="l"/>
            <a:r>
              <a:rPr sz="1400" b="1" i="0">
                <a:solidFill>
                  <a:srgbClr val="FFFFFF"/>
                </a:solidFill>
              </a:rPr>
              <a:t>🚀  Améliorations futures</a:t>
            </a:r>
          </a:p>
        </p:txBody>
      </p:sp>
      <p:sp>
        <p:nvSpPr>
          <p:cNvPr id="10" name="TextBox 9"/>
          <p:cNvSpPr txBox="1"/>
          <p:nvPr/>
        </p:nvSpPr>
        <p:spPr>
          <a:xfrm>
            <a:off x="6583680" y="2194560"/>
            <a:ext cx="5029200" cy="3383280"/>
          </a:xfrm>
          <a:prstGeom prst="rect">
            <a:avLst/>
          </a:prstGeom>
          <a:noFill/>
        </p:spPr>
        <p:txBody>
          <a:bodyPr wrap="square">
            <a:spAutoFit/>
          </a:bodyPr>
          <a:lstStyle/>
          <a:p>
            <a:pPr>
              <a:spcBef>
                <a:spcPts val="400"/>
              </a:spcBef>
            </a:pPr>
            <a:r>
              <a:rPr sz="1300">
                <a:solidFill>
                  <a:srgbClr val="FFFFFF"/>
                </a:solidFill>
              </a:rPr>
              <a:t>▸  Application mobile React Native</a:t>
            </a:r>
          </a:p>
          <a:p>
            <a:pPr>
              <a:spcBef>
                <a:spcPts val="400"/>
              </a:spcBef>
            </a:pPr>
            <a:r>
              <a:rPr sz="1300">
                <a:solidFill>
                  <a:srgbClr val="FFFFFF"/>
                </a:solidFill>
              </a:rPr>
              <a:t>▸  Authentification 2FA (TOTP)</a:t>
            </a:r>
          </a:p>
          <a:p>
            <a:pPr>
              <a:spcBef>
                <a:spcPts val="400"/>
              </a:spcBef>
            </a:pPr>
            <a:r>
              <a:rPr sz="1300">
                <a:solidFill>
                  <a:srgbClr val="FFFFFF"/>
                </a:solidFill>
              </a:rPr>
              <a:t>▸  Système de fidélité client</a:t>
            </a:r>
          </a:p>
          <a:p>
            <a:pPr>
              <a:spcBef>
                <a:spcPts val="400"/>
              </a:spcBef>
            </a:pPr>
            <a:r>
              <a:rPr sz="1300">
                <a:solidFill>
                  <a:srgbClr val="FFFFFF"/>
                </a:solidFill>
              </a:rPr>
              <a:t>▸  Confirmation réservation par SMS/email</a:t>
            </a:r>
          </a:p>
          <a:p>
            <a:pPr>
              <a:spcBef>
                <a:spcPts val="400"/>
              </a:spcBef>
            </a:pPr>
            <a:r>
              <a:rPr sz="1300">
                <a:solidFill>
                  <a:srgbClr val="FFFFFF"/>
                </a:solidFill>
              </a:rPr>
              <a:t>▸  Dashboard prédictif (Machine Learning)</a:t>
            </a:r>
          </a:p>
          <a:p>
            <a:pPr>
              <a:spcBef>
                <a:spcPts val="400"/>
              </a:spcBef>
            </a:pPr>
            <a:r>
              <a:rPr sz="1300">
                <a:solidFill>
                  <a:srgbClr val="FFFFFF"/>
                </a:solidFill>
              </a:rPr>
              <a:t>▸  Support multi-établissements</a:t>
            </a:r>
          </a:p>
          <a:p>
            <a:pPr>
              <a:spcBef>
                <a:spcPts val="400"/>
              </a:spcBef>
            </a:pPr>
            <a:r>
              <a:rPr sz="1300">
                <a:solidFill>
                  <a:srgbClr val="FFFFFF"/>
                </a:solidFill>
              </a:rPr>
              <a:t>▸  Mode hors-ligne (PWA)</a:t>
            </a:r>
          </a:p>
        </p:txBody>
      </p:sp>
      <p:sp>
        <p:nvSpPr>
          <p:cNvPr id="11" name="TextBox 10"/>
          <p:cNvSpPr txBox="1"/>
          <p:nvPr/>
        </p:nvSpPr>
        <p:spPr>
          <a:xfrm>
            <a:off x="457200" y="5989320"/>
            <a:ext cx="11274552" cy="548640"/>
          </a:xfrm>
          <a:prstGeom prst="rect">
            <a:avLst/>
          </a:prstGeom>
          <a:noFill/>
        </p:spPr>
        <p:txBody>
          <a:bodyPr wrap="square">
            <a:spAutoFit/>
          </a:bodyPr>
          <a:lstStyle/>
          <a:p>
            <a:pPr algn="ctr"/>
            <a:r>
              <a:rPr sz="1800" b="1" i="0">
                <a:solidFill>
                  <a:srgbClr val="007A8A"/>
                </a:solidFill>
              </a:rPr>
              <a:t>Merci de votre attention — Questions ?</a:t>
            </a:r>
          </a:p>
        </p:txBody>
      </p:sp>
      <p:sp>
        <p:nvSpPr>
          <p:cNvPr id="12" name="TextBox 11"/>
          <p:cNvSpPr txBox="1"/>
          <p:nvPr/>
        </p:nvSpPr>
        <p:spPr>
          <a:xfrm>
            <a:off x="11091672" y="6510528"/>
            <a:ext cx="914400" cy="274320"/>
          </a:xfrm>
          <a:prstGeom prst="rect">
            <a:avLst/>
          </a:prstGeom>
          <a:noFill/>
        </p:spPr>
        <p:txBody>
          <a:bodyPr wrap="square">
            <a:spAutoFit/>
          </a:bodyPr>
          <a:lstStyle/>
          <a:p>
            <a:pPr algn="r"/>
            <a:r>
              <a:rPr sz="1100" b="0" i="0">
                <a:solidFill>
                  <a:srgbClr val="888888"/>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